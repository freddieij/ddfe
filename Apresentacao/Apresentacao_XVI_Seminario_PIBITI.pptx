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6" roundtripDataSignature="AMtx7mjG9xRShBp3ilWKTZNJKLFsLzZHj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1ec743f50bf0b80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h1ec743f50bf0b80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[~20 s] Bom dia. Sou o Frederico, bolsista PIBITI sob orientação do Prof. Tiago Abud. O título é o da proposta original; vou explicar em seguida por que o enfoque mudou.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 s] A proposta submetida era aplicar computação paralela à simulação estocástica de redes elétricas com recursos energéticos distribuídos, usando OpenDSS e Python. Ao longo do ano houve a necessidade de mudar o enfoque: atuei em apoio ao Prof. Bruno Borba no projeto de Pesquisa e Desenvolvimento 'Impactos do Crescimento da Frota de Veículos Elétricos no Sistema Eletro-Energético e Avaliação do Ciclo de Vida em Comparação com Veículos à Combustão', por causa da alta demanda de trabalho desse projeto. O tema continua ligado à proposta: planejamento energético do sistema elétrico. No P&amp;D, o planejamento é feito com o OSeMOSYS, uma ferramenta de planejamento energético, e foi dali que surgiu o problema que este trabalho resolve.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 s] No OSeMOSYS, o sistema energético é descrito como uma rede: combustíveis, organizados por estágio da cadeia energética, ligados por tecnologias de extração, conversão, transporte e uso final. O desenho dessa rede é o Diagrama de Fluxo de Energia de Referência, a especificação visual do modelo. À esquerda está o diagrama de referência do projeto, desenhado à mão. Um diagrama realista tem cerca de 170 nós e mais de 100 arestas e leva dias para desenhar. O problema maior é a manutenção: qualquer alteração no modelo invalida o desenho, que congela numa versão antiga e deixa de documentar o modelo.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 s] Gerar o diagrama automaticamente não é novidade. O otoole, ferramenta oficial do OSeMOSYS, faz isso com o Graphviz, mas a coluna de cada nó é inferida pela topologia, e não pelo estágio que o modelador declarou; os combustíveis viram pontos sem rótulo; e a saída é uma imagem estática. Os diagramas de Sankey do Power BI codificam volume, derivam o eixo do grafo e não tratam as conexões de retorno. A lacuna é gerar um diagrama que respeite o estágio declarado, com combustíveis rotulados, conexões de retorno desenhadas e interatividade, dentro do Power BI. Na revisão feita, não encontramos implementação equivalente.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[~40 s] O objetivo geral foi desenvolver o Diagrama Dinâmico de Fluxo Energético, o DDFE: gerar automaticamente o diagrama de fluxo de energia completo e interativo a partir das duas tabelas que o modelador já mantém, dentro do Power BI. Os objetivos específicos foram: preservar a semântica do estágio; calcular a disposição sem sobreposição, incluindo as conexões de retorno; permitir isolar cadeias com um clique; e manter o código versionado e documentado, em repositório público.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 s] Em vez de usar um visual pronto, construímos um motor em duas camadas. A entrada são duas abas de Excel: Fuels, com combustível, estágio e cor; e Techs, com tecnologia, entrada e saída. A camada de cálculo, em Power Query, na linguagem M, tem nove consultas e 556 linhas e calcula todas as coordenadas. A camada de desenho, no Deneb, só desenha e cuida da interação. Separar as camadas permitiu desenvolver e depurar cada uma isoladamente. Nenhuma coordenada é desenhada à mão.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[~60 s] Este é o principal resultado técnico. Cada faixa horizontal do diagrama é uma raia. Uma conexão longa, por exemplo de um combustível do estágio 1 até uma demanda do estágio 5, passa por cima de caixas de outras tecnologias, como em (a). Desviar a linha exigiria busca em grade, inviável na linguagem M, que não tem estado mutável nem laços. A solução foi reservar espaço antes de desenhar: cada coluna ocupada que a conexão cruza recebe um nó fantasma, invisível, que conta na densidade da raia, como em (b). A raia passa a reservar mais linhas, e em (c) a conexão percorre uma linha livre. Tudo é feito com agrupamentos, somas acumuladas e junções de tabela. A troca é deliberada: o diagrama fica um pouco mais alto, mas o algoritmo é determinístico.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[~45 s] Um caso que os visuais prontos não tratam é a conexão de retorno. A termelétrica a gás natural usa gás processado, que está no estágio 3, para gerar eletricidade, que está no estágio 2. Isso não é erro do modelo: a energia segue o sentido normal, do gás para a eletricidade. Mas, como as colunas seguem o estágio, a entrada fica à direita da saída, e a linha precisa voltar para a esquerda, contornando as caixas. A faixa cinza é só um trecho omitido da figura, onde ficam outras colunas do estágio 3, para caber o zoom. O cálculo detecta esses casos comparando os estágios de entrada e saída, sem o usuário declarar nada. No sistema de validação há quatro casos, todos desenhados automaticamente.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[~45 s] O diagrama deixou de ser imagem e virou interface. Sem nenhuma seleção, todas as cadeias aparecem iguais. Ao clicar em um combustível ou tecnologia, as demais cadeias ficam esmaecidas, mas continuam visíveis como contexto. À esquerda, cliquei na biomassa: biomassa e cana-de-açúcar compartilham a cor no cadastro, então o grupo inteiro é destacado, incluindo as demandas de biomassa, a usina a biomassa e a rota de etanol. A cor expressa a classe do vetor energético. À direita, cliquei no carvão, que tem cor exclusiva: só a cadeia do carvão fica em destaque. Cada linha tem 2 pixels, mas a área de clique invisível tem 45 pixels, o que torna o clique viável num diagrama denso.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[~45 s] A ferramenta foi validada com a estrutura do sistema energético brasileiro: 70 combustíveis em 5 estágios, 101 tecnologias e 106 ligações declaradas na planilha, incluindo 4 conexões de retorno. É a estrutura do sistema, ou seja, quais combustíveis e tecnologias existem e como se ligam, sem quantidades de energia. Também foi testada com bases de topologia aleatória, com casos difíceis, para confirmar que a disposição não depende deste sistema específico. A figura é só um detalhe: o diagrama inteiro tem milhares de pixels nos dois eixos, por isso zoom e destaque são essenciais. O ganho principal: o que levava dias à mão agora se atualiza em segundos, e o diagrama passa a acompanhar o modelo automaticamente.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 s] Para concluir: entregamos um gerador automático e interativo do diagrama de fluxo de energia, funcional e documentado. O ganho mais importante é a atualização automática: o diagrama acompanha o modelo sem redesenho. O algoritmo de nós fantasmas resolve a sobreposição só com transformações de tabela, e o método opera sobre a forma do grafo, então tem aplicação geral, para outros fluxos em camadas, como materiais e cadeias produtivas. Como trabalhos futuros: parametrizar a disposição, reativar a rastreabilidade de forma otimizada, dimensionar as linhas pelo volume de fluxo e usar o grafo para diagnosticar inconsistências no modelo. O código está público no GitHub. Obrigado.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[~10 s] Obrigado. Fico à disposição para perguntas.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Freddieij/DDF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github.com/Freddieij/DDFE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5394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h1ec743f50bf0b802_0_0"/>
          <p:cNvSpPr txBox="1"/>
          <p:nvPr>
            <p:ph type="title"/>
          </p:nvPr>
        </p:nvSpPr>
        <p:spPr>
          <a:xfrm>
            <a:off x="838200" y="0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XVI Seminário de Iniciação à Inovação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h1ec743f50bf0b802_0_0"/>
          <p:cNvSpPr/>
          <p:nvPr/>
        </p:nvSpPr>
        <p:spPr>
          <a:xfrm>
            <a:off x="0" y="5505876"/>
            <a:ext cx="12192000" cy="13521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h1ec743f50bf0b802_0_0"/>
          <p:cNvSpPr txBox="1"/>
          <p:nvPr>
            <p:ph idx="1" type="body"/>
          </p:nvPr>
        </p:nvSpPr>
        <p:spPr>
          <a:xfrm>
            <a:off x="838200" y="3888425"/>
            <a:ext cx="10515600" cy="8985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Bolsista: Frederico José Poli Antunes</a:t>
            </a:r>
            <a:endParaRPr sz="2400"/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Orientador: Prof. Tiago Pires Abud</a:t>
            </a:r>
            <a:endParaRPr sz="2400"/>
          </a:p>
        </p:txBody>
      </p:sp>
      <p:sp>
        <p:nvSpPr>
          <p:cNvPr id="87" name="Google Shape;87;h1ec743f50bf0b802_0_0"/>
          <p:cNvSpPr txBox="1"/>
          <p:nvPr>
            <p:ph idx="4294967295" type="ctrTitle"/>
          </p:nvPr>
        </p:nvSpPr>
        <p:spPr>
          <a:xfrm>
            <a:off x="1885950" y="1601287"/>
            <a:ext cx="84201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</a:pPr>
            <a:r>
              <a:rPr lang="pt-BR" sz="32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Computação Paralela Aplicada à Simulação Estocástica de Redes Elétricas com Recursos Energéticos Distribuídos</a:t>
            </a:r>
            <a:endParaRPr sz="6000"/>
          </a:p>
        </p:txBody>
      </p:sp>
      <p:pic>
        <p:nvPicPr>
          <p:cNvPr id="88" name="Google Shape;88;h1ec743f50bf0b802_0_0" title="logouff_vertical_azul-1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30675" y="5571363"/>
            <a:ext cx="1192300" cy="1221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h1ec743f50bf0b802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81930" y="5658380"/>
            <a:ext cx="2628129" cy="1047097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h1ec743f50bf0b802_0_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69000" y="5653612"/>
            <a:ext cx="2460443" cy="10566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Contexto: da proposta original ao P&amp;D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INTRODUÇÃO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Proposta"/>
          <p:cNvSpPr/>
          <p:nvPr/>
        </p:nvSpPr>
        <p:spPr>
          <a:xfrm>
            <a:off x="914400" y="1874519"/>
            <a:ext cx="4160520" cy="32004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274320" rIns="274320" tIns="274320" bIns="27432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95959"/>
                </a:solidFill>
                <a:latin typeface="Calibri"/>
              </a:rPr>
              <a:t>PROPOSTA SUBMETIDA (PIBITI)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Calibri"/>
              </a:rPr>
              <a:t>Computação paralela aplicada à simulação estocástica de redes elétricas com recursos energéticos distribuídos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OpenDSS + Python, para reduzir o tempo de simulação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5303520" y="3154679"/>
            <a:ext cx="1005840" cy="640080"/>
          </a:xfrm>
          <a:prstGeom prst="right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74920" y="38862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mudança de enfoque</a:t>
            </a:r>
          </a:p>
        </p:txBody>
      </p:sp>
      <p:sp>
        <p:nvSpPr>
          <p:cNvPr id="53" name="PeD"/>
          <p:cNvSpPr/>
          <p:nvPr/>
        </p:nvSpPr>
        <p:spPr>
          <a:xfrm>
            <a:off x="6492240" y="1874519"/>
            <a:ext cx="4782312" cy="320040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ctr" wrap="square" lIns="274320" rIns="274320" tIns="274320" bIns="27432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FE2F3"/>
                </a:solidFill>
                <a:latin typeface="Calibri"/>
              </a:rPr>
              <a:t>PROJETO DE PESQUISA E DESENVOLVIMENTO (P&amp;D)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1">
                <a:solidFill>
                  <a:srgbClr val="FFFFFF"/>
                </a:solidFill>
                <a:latin typeface="Calibri"/>
              </a:rPr>
              <a:t>“Impactos do Crescimento da Frota de Veículos Elétricos no Sistema Eletro-Energético e Avaliação do Ciclo de Vida em Comparação com Veículos à Combustão”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CFE2F3"/>
                </a:solidFill>
                <a:latin typeface="Calibri"/>
              </a:rPr>
              <a:t>Planejamento energético com a ferramenta OSeMOSYS. Atuação junto ao Prof. Bruno Borba.</a:t>
            </a:r>
          </a:p>
        </p:txBody>
      </p:sp>
      <p:sp>
        <p:nvSpPr>
          <p:cNvPr id="54" name="Motivo"/>
          <p:cNvSpPr/>
          <p:nvPr/>
        </p:nvSpPr>
        <p:spPr>
          <a:xfrm>
            <a:off x="914400" y="5349240"/>
            <a:ext cx="10360152" cy="86868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ctr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5394"/>
                </a:solidFill>
                <a:latin typeface="Calibri"/>
              </a:rPr>
              <a:t>Por quê: </a:t>
            </a:r>
            <a:r>
              <a:rPr sz="1600" b="0" i="0">
                <a:solidFill>
                  <a:srgbClr val="1F1F1F"/>
                </a:solidFill>
                <a:latin typeface="Calibri"/>
              </a:rPr>
              <a:t>alta demanda de trabalho do P&amp;D, em tema ligado à proposta original. Este trabalho automatiza um instrumento do planejamento energético: o diagrama de fluxo de energia.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Diagrama de Fluxo de Energia de Referência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INTRODUÇÃO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pic>
        <p:nvPicPr>
          <p:cNvPr id="50" name="Diagrama manual" descr="cadeias_recor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83080"/>
            <a:ext cx="4118610" cy="420624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1" name="TextBox 50"/>
          <p:cNvSpPr txBox="1"/>
          <p:nvPr/>
        </p:nvSpPr>
        <p:spPr>
          <a:xfrm>
            <a:off x="914400" y="6044183"/>
            <a:ext cx="41186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Diagrama de referência do projeto, desenhado à mão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90210" y="1783080"/>
            <a:ext cx="578434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Grafo dirigido que é a especificação visual de um modelo OSeMOSYS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Combustíveis (linhas verticais), ordenados por estágio: do recurso primário à demanda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Tecnologias (caixas) consomem e produzem combustíveis</a:t>
            </a:r>
          </a:p>
        </p:txBody>
      </p:sp>
      <p:sp>
        <p:nvSpPr>
          <p:cNvPr id="53" name="Stat nós"/>
          <p:cNvSpPr/>
          <p:nvPr/>
        </p:nvSpPr>
        <p:spPr>
          <a:xfrm>
            <a:off x="5490210" y="3657600"/>
            <a:ext cx="1806194" cy="1143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5394"/>
                </a:solidFill>
                <a:latin typeface="Calibri"/>
              </a:rPr>
              <a:t>~170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nós</a:t>
            </a:r>
          </a:p>
        </p:txBody>
      </p:sp>
      <p:sp>
        <p:nvSpPr>
          <p:cNvPr id="54" name="Stat arestas"/>
          <p:cNvSpPr/>
          <p:nvPr/>
        </p:nvSpPr>
        <p:spPr>
          <a:xfrm>
            <a:off x="7479284" y="3657600"/>
            <a:ext cx="1806194" cy="1143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5394"/>
                </a:solidFill>
                <a:latin typeface="Calibri"/>
              </a:rPr>
              <a:t>100+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arestas</a:t>
            </a:r>
          </a:p>
        </p:txBody>
      </p:sp>
      <p:sp>
        <p:nvSpPr>
          <p:cNvPr id="55" name="Stat de desenho à mão"/>
          <p:cNvSpPr/>
          <p:nvPr/>
        </p:nvSpPr>
        <p:spPr>
          <a:xfrm>
            <a:off x="9468358" y="3657600"/>
            <a:ext cx="1806194" cy="1143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5394"/>
                </a:solidFill>
                <a:latin typeface="Calibri"/>
              </a:rPr>
              <a:t>dias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de desenho à mão</a:t>
            </a:r>
          </a:p>
        </p:txBody>
      </p:sp>
      <p:sp>
        <p:nvSpPr>
          <p:cNvPr id="56" name="Problema"/>
          <p:cNvSpPr/>
          <p:nvPr/>
        </p:nvSpPr>
        <p:spPr>
          <a:xfrm>
            <a:off x="5490210" y="5029200"/>
            <a:ext cx="5784342" cy="96012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ctr" wrap="square" lIns="182880" rIns="182880" tIns="182880" bIns="18288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3A2E"/>
                </a:solidFill>
                <a:latin typeface="Calibri"/>
              </a:rPr>
              <a:t>Problema: </a:t>
            </a:r>
            <a:r>
              <a:rPr sz="1500" b="0" i="0">
                <a:solidFill>
                  <a:srgbClr val="1F1F1F"/>
                </a:solidFill>
                <a:latin typeface="Calibri"/>
              </a:rPr>
              <a:t>cada alteração no modelo invalida o desenho, e o diagrama deixa de corresponder ao modelo.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Estado da arte e lacuna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INTRODUÇÃO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otoole viz res"/>
          <p:cNvSpPr/>
          <p:nvPr/>
        </p:nvSpPr>
        <p:spPr>
          <a:xfrm>
            <a:off x="914400" y="1828800"/>
            <a:ext cx="3291840" cy="3429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t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1F1F"/>
                </a:solidFill>
                <a:latin typeface="Calibri"/>
              </a:rPr>
              <a:t>otoole viz res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ferramenta oficial do OSeMOSYS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2E7D32"/>
              </a:buClr>
              <a:buFont typeface="Segoe UI Symbol"/>
              <a:buChar char="✓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Gera o diagrama automaticamente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Coluna inferida pela topologia, não pelo estágio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Combustíveis viram pontos sem rótulo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Saída é imagem estática</a:t>
            </a:r>
          </a:p>
        </p:txBody>
      </p:sp>
      <p:sp>
        <p:nvSpPr>
          <p:cNvPr id="51" name="Sankey e visuais de rede"/>
          <p:cNvSpPr/>
          <p:nvPr/>
        </p:nvSpPr>
        <p:spPr>
          <a:xfrm>
            <a:off x="4448556" y="1828800"/>
            <a:ext cx="3291840" cy="3429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t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1F1F"/>
                </a:solidFill>
                <a:latin typeface="Calibri"/>
              </a:rPr>
              <a:t>Sankey e visuais de rede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ferramentas como o Power BI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2E7D32"/>
              </a:buClr>
              <a:buFont typeface="Segoe UI Symbol"/>
              <a:buChar char="✓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Já dentro do Power BI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Eixo derivado do grafo, não do estágio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Espessura codifica volume, não topologia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Conexões de retorno ficam ilegíveis</a:t>
            </a:r>
          </a:p>
        </p:txBody>
      </p:sp>
      <p:sp>
        <p:nvSpPr>
          <p:cNvPr id="52" name="Este trabalho"/>
          <p:cNvSpPr/>
          <p:nvPr/>
        </p:nvSpPr>
        <p:spPr>
          <a:xfrm>
            <a:off x="7982712" y="1828800"/>
            <a:ext cx="3291840" cy="342900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t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Este trabalho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CFE2F3"/>
                </a:solidFill>
                <a:latin typeface="Calibri"/>
              </a:rPr>
              <a:t>Power BI + Power Query + Deneb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A5D6A7"/>
              </a:buClr>
              <a:buFont typeface="Segoe UI Symbol"/>
              <a:buChar char="✓"/>
            </a:pPr>
            <a:r>
              <a:rPr sz="1500" b="0" i="0">
                <a:solidFill>
                  <a:srgbClr val="FFFFFF"/>
                </a:solidFill>
                <a:latin typeface="Calibri"/>
              </a:rPr>
              <a:t>Coluna imposta pelo estágio declarado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A5D6A7"/>
              </a:buClr>
              <a:buFont typeface="Segoe UI Symbol"/>
              <a:buChar char="✓"/>
            </a:pPr>
            <a:r>
              <a:rPr sz="1500" b="0" i="0">
                <a:solidFill>
                  <a:srgbClr val="FFFFFF"/>
                </a:solidFill>
                <a:latin typeface="Calibri"/>
              </a:rPr>
              <a:t>Combustíveis como eixos rotulados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A5D6A7"/>
              </a:buClr>
              <a:buFont typeface="Segoe UI Symbol"/>
              <a:buChar char="✓"/>
            </a:pPr>
            <a:r>
              <a:rPr sz="1500" b="0" i="0">
                <a:solidFill>
                  <a:srgbClr val="FFFFFF"/>
                </a:solidFill>
                <a:latin typeface="Calibri"/>
              </a:rPr>
              <a:t>Conexões de retorno desenhadas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A5D6A7"/>
              </a:buClr>
              <a:buFont typeface="Segoe UI Symbol"/>
              <a:buChar char="✓"/>
            </a:pPr>
            <a:r>
              <a:rPr sz="1500" b="0" i="0">
                <a:solidFill>
                  <a:srgbClr val="FFFFFF"/>
                </a:solidFill>
                <a:latin typeface="Calibri"/>
              </a:rPr>
              <a:t>Interativo, dentro do Power BI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" y="5486400"/>
            <a:ext cx="10360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Na revisão realizada, não foi identificada implementação equivalente no Power BI ou em ferramenta similar.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Objetivos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OBJETIVOS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Objetivo geral"/>
          <p:cNvSpPr/>
          <p:nvPr/>
        </p:nvSpPr>
        <p:spPr>
          <a:xfrm>
            <a:off x="914400" y="1783080"/>
            <a:ext cx="10360152" cy="128016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ctr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FE2F3"/>
                </a:solidFill>
                <a:latin typeface="Calibri"/>
              </a:rPr>
              <a:t>OBJETIVO GERAL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Desenvolver o Diagrama Dinâmico de Fluxo Energético (DDFE):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gerar automaticamente o diagrama de fluxo de energia completo e interativo a partir de duas tabelas que o modelador já mantém, dentro do Power BI.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" y="33101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B5394"/>
                </a:solidFill>
                <a:latin typeface="Calibri"/>
              </a:rPr>
              <a:t>OBJETIVOS ESPECÍFICOS</a:t>
            </a:r>
          </a:p>
        </p:txBody>
      </p:sp>
      <p:sp>
        <p:nvSpPr>
          <p:cNvPr id="52" name="Especifico 1"/>
          <p:cNvSpPr/>
          <p:nvPr/>
        </p:nvSpPr>
        <p:spPr>
          <a:xfrm>
            <a:off x="914400" y="3657600"/>
            <a:ext cx="2377440" cy="2377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43000" y="3886200"/>
            <a:ext cx="548640" cy="54864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3000" y="4617720"/>
            <a:ext cx="2011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1F1F"/>
                </a:solidFill>
                <a:latin typeface="Calibri"/>
              </a:rPr>
              <a:t>Semântica preservada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Coluna de cada combustível definida pelo estágio energético declarado</a:t>
            </a:r>
          </a:p>
        </p:txBody>
      </p:sp>
      <p:sp>
        <p:nvSpPr>
          <p:cNvPr id="55" name="Especifico 2"/>
          <p:cNvSpPr/>
          <p:nvPr/>
        </p:nvSpPr>
        <p:spPr>
          <a:xfrm>
            <a:off x="3575304" y="3657600"/>
            <a:ext cx="2377440" cy="2377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3886200"/>
            <a:ext cx="548640" cy="54864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03904" y="4617720"/>
            <a:ext cx="2011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1F1F"/>
                </a:solidFill>
                <a:latin typeface="Calibri"/>
              </a:rPr>
              <a:t>Disposição automática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Posições e traçado sem sobreposição, inclusive conexões de retorno</a:t>
            </a:r>
          </a:p>
        </p:txBody>
      </p:sp>
      <p:sp>
        <p:nvSpPr>
          <p:cNvPr id="58" name="Especifico 3"/>
          <p:cNvSpPr/>
          <p:nvPr/>
        </p:nvSpPr>
        <p:spPr>
          <a:xfrm>
            <a:off x="6236208" y="3657600"/>
            <a:ext cx="2377440" cy="2377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464808" y="3886200"/>
            <a:ext cx="548640" cy="54864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64808" y="4617720"/>
            <a:ext cx="2011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1F1F"/>
                </a:solidFill>
                <a:latin typeface="Calibri"/>
              </a:rPr>
              <a:t>Interatividade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Um clique isola a cadeia energética correspondente</a:t>
            </a:r>
          </a:p>
        </p:txBody>
      </p:sp>
      <p:sp>
        <p:nvSpPr>
          <p:cNvPr id="61" name="Especifico 4"/>
          <p:cNvSpPr/>
          <p:nvPr/>
        </p:nvSpPr>
        <p:spPr>
          <a:xfrm>
            <a:off x="8897112" y="3657600"/>
            <a:ext cx="2377440" cy="2377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9125712" y="3886200"/>
            <a:ext cx="548640" cy="54864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25712" y="4617720"/>
            <a:ext cx="2011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1F1F"/>
                </a:solidFill>
                <a:latin typeface="Calibri"/>
              </a:rPr>
              <a:t>Código auditável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Versionado como texto e documentado: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0B5394"/>
                </a:solidFill>
                <a:latin typeface="Calibri"/>
                <a:hlinkClick r:id="rId3"/>
              </a:rPr>
              <a:t>github.com/Freddieij/DDFE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Solução: motor próprio em duas camadas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RESULTADOS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Excel"/>
          <p:cNvSpPr/>
          <p:nvPr/>
        </p:nvSpPr>
        <p:spPr>
          <a:xfrm>
            <a:off x="914400" y="1783080"/>
            <a:ext cx="2286000" cy="14630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5394"/>
                </a:solidFill>
                <a:latin typeface="Calibri"/>
              </a:rPr>
              <a:t>ENTRADA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Excel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2 abas: Fuels e Techs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3265932" y="2331720"/>
            <a:ext cx="274320" cy="365760"/>
          </a:xfrm>
          <a:prstGeom prst="right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Power Query (M)"/>
          <p:cNvSpPr/>
          <p:nvPr/>
        </p:nvSpPr>
        <p:spPr>
          <a:xfrm>
            <a:off x="3605784" y="1783080"/>
            <a:ext cx="2286000" cy="146304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5394"/>
                </a:solidFill>
                <a:latin typeface="Calibri"/>
              </a:rPr>
              <a:t>CÁLCULO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Power Query (M)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9 consultas · 556 linhas
calcula as coordenadas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5957316" y="2331720"/>
            <a:ext cx="274320" cy="365760"/>
          </a:xfrm>
          <a:prstGeom prst="right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Deneb (Vega)"/>
          <p:cNvSpPr/>
          <p:nvPr/>
        </p:nvSpPr>
        <p:spPr>
          <a:xfrm>
            <a:off x="6297168" y="1783080"/>
            <a:ext cx="2286000" cy="146304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5394"/>
                </a:solidFill>
                <a:latin typeface="Calibri"/>
              </a:rPr>
              <a:t>DESENHO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Deneb (Vega)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~1.030 linhas
desenha e interage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8648700" y="2331720"/>
            <a:ext cx="274320" cy="365760"/>
          </a:xfrm>
          <a:prstGeom prst="right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Diagrama interativo"/>
          <p:cNvSpPr/>
          <p:nvPr/>
        </p:nvSpPr>
        <p:spPr>
          <a:xfrm>
            <a:off x="8988552" y="1783080"/>
            <a:ext cx="2286000" cy="146304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FE2F3"/>
                </a:solidFill>
                <a:latin typeface="Calibri"/>
              </a:rPr>
              <a:t>SAÍDA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Diagrama interativo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CFE2F3"/>
                </a:solidFill>
                <a:latin typeface="Calibri"/>
              </a:rPr>
              <a:t>no Power BI</a:t>
            </a:r>
          </a:p>
        </p:txBody>
      </p:sp>
      <p:pic>
        <p:nvPicPr>
          <p:cNvPr id="57" name="Entrada Excel" descr="fig-entrada-exc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611880"/>
            <a:ext cx="6368994" cy="260604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8" name="TextBox 57"/>
          <p:cNvSpPr txBox="1"/>
          <p:nvPr/>
        </p:nvSpPr>
        <p:spPr>
          <a:xfrm>
            <a:off x="7649154" y="3611880"/>
            <a:ext cx="3625397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1F1F1F"/>
                </a:solidFill>
                <a:latin typeface="Calibri"/>
              </a:rPr>
              <a:t>Entrada mínima: a planilha que o modelador já mantém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B5394"/>
              </a:buClr>
              <a:buFont typeface="Arial"/>
              <a:buChar char="•"/>
            </a:pPr>
            <a:r>
              <a:rPr sz="1500" b="1" i="0">
                <a:solidFill>
                  <a:srgbClr val="1F1F1F"/>
                </a:solidFill>
                <a:latin typeface="Calibri"/>
              </a:rPr>
              <a:t>Fuels: </a:t>
            </a:r>
            <a:r>
              <a:rPr sz="1500" b="0" i="0">
                <a:solidFill>
                  <a:srgbClr val="1F1F1F"/>
                </a:solidFill>
                <a:latin typeface="Calibri"/>
              </a:rPr>
              <a:t>combustível, estágio e cor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B5394"/>
              </a:buClr>
              <a:buFont typeface="Arial"/>
              <a:buChar char="•"/>
            </a:pPr>
            <a:r>
              <a:rPr sz="1500" b="1" i="0">
                <a:solidFill>
                  <a:srgbClr val="1F1F1F"/>
                </a:solidFill>
                <a:latin typeface="Calibri"/>
              </a:rPr>
              <a:t>Techs: </a:t>
            </a:r>
            <a:r>
              <a:rPr sz="1500" b="0" i="0">
                <a:solidFill>
                  <a:srgbClr val="1F1F1F"/>
                </a:solidFill>
                <a:latin typeface="Calibri"/>
              </a:rPr>
              <a:t>tecnologia, entrada e saída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Várias saídas = várias linhas (em destaque: produção de etanol)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1" i="0">
                <a:solidFill>
                  <a:srgbClr val="0B5394"/>
                </a:solidFill>
                <a:latin typeface="Calibri"/>
              </a:rPr>
              <a:t>Nenhuma coordenada desenhada à mão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Raias elásticas com “nós fantasmas”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RESULTADOS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raia A"/>
          <p:cNvSpPr/>
          <p:nvPr/>
        </p:nvSpPr>
        <p:spPr>
          <a:xfrm>
            <a:off x="4206240" y="1828800"/>
            <a:ext cx="7068312" cy="640080"/>
          </a:xfrm>
          <a:prstGeom prst="rect">
            <a:avLst/>
          </a:prstGeom>
          <a:solidFill>
            <a:srgbClr val="EAF2FB"/>
          </a:solidFill>
          <a:ln w="9525">
            <a:solidFill>
              <a:srgbClr val="B9D2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79392" y="2011680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A6EA5"/>
                </a:solidFill>
                <a:latin typeface="Calibri"/>
              </a:rPr>
              <a:t>raia A</a:t>
            </a:r>
          </a:p>
        </p:txBody>
      </p:sp>
      <p:sp>
        <p:nvSpPr>
          <p:cNvPr id="52" name="T1"/>
          <p:cNvSpPr/>
          <p:nvPr/>
        </p:nvSpPr>
        <p:spPr>
          <a:xfrm>
            <a:off x="4914900" y="195681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3A6EA5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D3F5E"/>
                </a:solidFill>
                <a:latin typeface="Calibri"/>
              </a:rPr>
              <a:t>T1</a:t>
            </a:r>
          </a:p>
        </p:txBody>
      </p:sp>
      <p:sp>
        <p:nvSpPr>
          <p:cNvPr id="53" name="T2"/>
          <p:cNvSpPr/>
          <p:nvPr/>
        </p:nvSpPr>
        <p:spPr>
          <a:xfrm>
            <a:off x="7383780" y="195681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C8102E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D3F5E"/>
                </a:solidFill>
                <a:latin typeface="Calibri"/>
              </a:rPr>
              <a:t>T2</a:t>
            </a:r>
          </a:p>
        </p:txBody>
      </p:sp>
      <p:sp>
        <p:nvSpPr>
          <p:cNvPr id="54" name="T3"/>
          <p:cNvSpPr/>
          <p:nvPr/>
        </p:nvSpPr>
        <p:spPr>
          <a:xfrm>
            <a:off x="8938260" y="195681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C8102E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D3F5E"/>
                </a:solidFill>
                <a:latin typeface="Calibri"/>
              </a:rPr>
              <a:t>T3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966460" y="2148840"/>
            <a:ext cx="5125212" cy="0"/>
          </a:xfrm>
          <a:prstGeom prst="line">
            <a:avLst/>
          </a:prstGeom>
          <a:ln w="31750">
            <a:solidFill>
              <a:srgbClr val="C8102E"/>
            </a:solidFill>
            <a:tailEnd type="triangle" w="med" len="med"/>
          </a:ln>
        </p:spPr>
      </p:cxnSp>
      <p:sp>
        <p:nvSpPr>
          <p:cNvPr id="56" name="TextBox 55"/>
          <p:cNvSpPr txBox="1"/>
          <p:nvPr/>
        </p:nvSpPr>
        <p:spPr>
          <a:xfrm>
            <a:off x="914400" y="1828800"/>
            <a:ext cx="301752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5394"/>
                </a:solidFill>
                <a:latin typeface="Calibri"/>
              </a:rPr>
              <a:t>(a) O problema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A conexão longa que sai da tecnologia T1 passa por cima de T2 e T3.</a:t>
            </a:r>
          </a:p>
        </p:txBody>
      </p:sp>
      <p:sp>
        <p:nvSpPr>
          <p:cNvPr id="57" name="raia A"/>
          <p:cNvSpPr/>
          <p:nvPr/>
        </p:nvSpPr>
        <p:spPr>
          <a:xfrm>
            <a:off x="4206240" y="2834640"/>
            <a:ext cx="7068312" cy="1280160"/>
          </a:xfrm>
          <a:prstGeom prst="rect">
            <a:avLst/>
          </a:prstGeom>
          <a:solidFill>
            <a:srgbClr val="EAF2FB"/>
          </a:solidFill>
          <a:ln w="9525">
            <a:solidFill>
              <a:srgbClr val="B9D2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79392" y="3172968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A6EA5"/>
                </a:solidFill>
                <a:latin typeface="Calibri"/>
              </a:rPr>
              <a:t>raia 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92340" y="2862072"/>
            <a:ext cx="12344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C8C8C"/>
                </a:solidFill>
                <a:latin typeface="Calibri"/>
              </a:rPr>
              <a:t>nó fantasma</a:t>
            </a:r>
          </a:p>
        </p:txBody>
      </p:sp>
      <p:sp>
        <p:nvSpPr>
          <p:cNvPr id="60" name="no fantasma"/>
          <p:cNvSpPr/>
          <p:nvPr/>
        </p:nvSpPr>
        <p:spPr>
          <a:xfrm>
            <a:off x="7383780" y="3118104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9050">
            <a:solidFill>
              <a:srgbClr val="8C8C8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Down Arrow 60"/>
          <p:cNvSpPr/>
          <p:nvPr/>
        </p:nvSpPr>
        <p:spPr>
          <a:xfrm>
            <a:off x="8490204" y="3419856"/>
            <a:ext cx="146304" cy="274320"/>
          </a:xfrm>
          <a:prstGeom prst="down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846820" y="2862072"/>
            <a:ext cx="12344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C8C8C"/>
                </a:solidFill>
                <a:latin typeface="Calibri"/>
              </a:rPr>
              <a:t>nó fantasma</a:t>
            </a:r>
          </a:p>
        </p:txBody>
      </p:sp>
      <p:sp>
        <p:nvSpPr>
          <p:cNvPr id="63" name="no fantasma"/>
          <p:cNvSpPr/>
          <p:nvPr/>
        </p:nvSpPr>
        <p:spPr>
          <a:xfrm>
            <a:off x="8938260" y="3118104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9050">
            <a:solidFill>
              <a:srgbClr val="8C8C8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Down Arrow 63"/>
          <p:cNvSpPr/>
          <p:nvPr/>
        </p:nvSpPr>
        <p:spPr>
          <a:xfrm>
            <a:off x="10044684" y="3419856"/>
            <a:ext cx="146304" cy="274320"/>
          </a:xfrm>
          <a:prstGeom prst="down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5966460" y="3310128"/>
            <a:ext cx="5125212" cy="0"/>
          </a:xfrm>
          <a:prstGeom prst="line">
            <a:avLst/>
          </a:prstGeom>
          <a:ln w="31750">
            <a:solidFill>
              <a:srgbClr val="1F7A3A"/>
            </a:solidFill>
            <a:tailEnd type="triangle" w="med" len="med"/>
          </a:ln>
        </p:spPr>
      </p:cxnSp>
      <p:sp>
        <p:nvSpPr>
          <p:cNvPr id="66" name="T1"/>
          <p:cNvSpPr/>
          <p:nvPr/>
        </p:nvSpPr>
        <p:spPr>
          <a:xfrm>
            <a:off x="4914900" y="3118104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3A6EA5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D3F5E"/>
                </a:solidFill>
                <a:latin typeface="Calibri"/>
              </a:rPr>
              <a:t>T1</a:t>
            </a:r>
          </a:p>
        </p:txBody>
      </p:sp>
      <p:sp>
        <p:nvSpPr>
          <p:cNvPr id="67" name="T2"/>
          <p:cNvSpPr/>
          <p:nvPr/>
        </p:nvSpPr>
        <p:spPr>
          <a:xfrm>
            <a:off x="7383780" y="364845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3A6EA5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D3F5E"/>
                </a:solidFill>
                <a:latin typeface="Calibri"/>
              </a:rPr>
              <a:t>T2</a:t>
            </a:r>
          </a:p>
        </p:txBody>
      </p:sp>
      <p:sp>
        <p:nvSpPr>
          <p:cNvPr id="68" name="T3"/>
          <p:cNvSpPr/>
          <p:nvPr/>
        </p:nvSpPr>
        <p:spPr>
          <a:xfrm>
            <a:off x="8938260" y="364845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3A6EA5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D3F5E"/>
                </a:solidFill>
                <a:latin typeface="Calibri"/>
              </a:rPr>
              <a:t>T3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2834640"/>
            <a:ext cx="301752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5394"/>
                </a:solidFill>
                <a:latin typeface="Calibri"/>
              </a:rPr>
              <a:t>(b) A reserva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Cada coluna cruzada recebe um “nó fantasma”: invisível, ele toma a linha da conexão e empurra T2 e T3 para baixo.</a:t>
            </a:r>
          </a:p>
        </p:txBody>
      </p:sp>
      <p:sp>
        <p:nvSpPr>
          <p:cNvPr id="70" name="raia A"/>
          <p:cNvSpPr/>
          <p:nvPr/>
        </p:nvSpPr>
        <p:spPr>
          <a:xfrm>
            <a:off x="4206240" y="4343400"/>
            <a:ext cx="7068312" cy="548640"/>
          </a:xfrm>
          <a:prstGeom prst="rect">
            <a:avLst/>
          </a:prstGeom>
          <a:solidFill>
            <a:srgbClr val="EAF2FB"/>
          </a:solidFill>
          <a:ln w="9525">
            <a:solidFill>
              <a:srgbClr val="B9D2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79392" y="4480559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A6EA5"/>
                </a:solidFill>
                <a:latin typeface="Calibri"/>
              </a:rPr>
              <a:t>raia A</a:t>
            </a:r>
          </a:p>
        </p:txBody>
      </p:sp>
      <p:sp>
        <p:nvSpPr>
          <p:cNvPr id="72" name="raia B"/>
          <p:cNvSpPr/>
          <p:nvPr/>
        </p:nvSpPr>
        <p:spPr>
          <a:xfrm>
            <a:off x="4206240" y="4983480"/>
            <a:ext cx="7068312" cy="548640"/>
          </a:xfrm>
          <a:prstGeom prst="rect">
            <a:avLst/>
          </a:prstGeom>
          <a:solidFill>
            <a:srgbClr val="FCEDE4"/>
          </a:solidFill>
          <a:ln w="9525">
            <a:solidFill>
              <a:srgbClr val="F0C8A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279392" y="5120640"/>
            <a:ext cx="685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5541E"/>
                </a:solidFill>
                <a:latin typeface="Calibri"/>
              </a:rPr>
              <a:t>raia B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966460" y="4617720"/>
            <a:ext cx="5125212" cy="0"/>
          </a:xfrm>
          <a:prstGeom prst="line">
            <a:avLst/>
          </a:prstGeom>
          <a:ln w="31750">
            <a:solidFill>
              <a:srgbClr val="1F7A3A"/>
            </a:solidFill>
            <a:tailEnd type="triangle" w="med" len="med"/>
          </a:ln>
        </p:spPr>
      </p:cxnSp>
      <p:sp>
        <p:nvSpPr>
          <p:cNvPr id="75" name="T1"/>
          <p:cNvSpPr/>
          <p:nvPr/>
        </p:nvSpPr>
        <p:spPr>
          <a:xfrm>
            <a:off x="4914900" y="442569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3A6EA5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D3F5E"/>
                </a:solidFill>
                <a:latin typeface="Calibri"/>
              </a:rPr>
              <a:t>T1</a:t>
            </a:r>
          </a:p>
        </p:txBody>
      </p:sp>
      <p:sp>
        <p:nvSpPr>
          <p:cNvPr id="76" name="T2"/>
          <p:cNvSpPr/>
          <p:nvPr/>
        </p:nvSpPr>
        <p:spPr>
          <a:xfrm>
            <a:off x="7383780" y="506577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B5541E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B5541E"/>
                </a:solidFill>
                <a:latin typeface="Calibri"/>
              </a:rPr>
              <a:t>T2</a:t>
            </a:r>
          </a:p>
        </p:txBody>
      </p:sp>
      <p:sp>
        <p:nvSpPr>
          <p:cNvPr id="77" name="T3"/>
          <p:cNvSpPr/>
          <p:nvPr/>
        </p:nvSpPr>
        <p:spPr>
          <a:xfrm>
            <a:off x="8938260" y="5065776"/>
            <a:ext cx="105156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B5541E"/>
            </a:solidFill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B5541E"/>
                </a:solidFill>
                <a:latin typeface="Calibri"/>
              </a:rPr>
              <a:t>T3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14400" y="4343400"/>
            <a:ext cx="301752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5394"/>
                </a:solidFill>
                <a:latin typeface="Calibri"/>
              </a:rPr>
              <a:t>(c) O resultado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A conexão segue por uma linha livre; T2 e T3 passam para a raia seguinte.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" y="5760720"/>
            <a:ext cx="10360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B5394"/>
                </a:solidFill>
                <a:latin typeface="Calibri"/>
              </a:rPr>
              <a:t>Por que funciona na linguagem M: </a:t>
            </a:r>
            <a:r>
              <a:rPr sz="1400" b="0" i="0">
                <a:solidFill>
                  <a:srgbClr val="595959"/>
                </a:solidFill>
                <a:latin typeface="Calibri"/>
              </a:rPr>
              <a:t>sem busca em grade nem estado mutável, apenas agrupamentos, somas acumuladas e junções de tabela.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Conexões de retorno no diagrama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RESULTADOS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112658" y="17373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95F02"/>
                </a:solidFill>
                <a:latin typeface="Calibri"/>
              </a:rPr>
              <a:t>gás natural processado (estágio 3)  ↓</a:t>
            </a:r>
          </a:p>
        </p:txBody>
      </p:sp>
      <p:pic>
        <p:nvPicPr>
          <p:cNvPr id="51" name="Conexoes de retorno" descr="retorno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03120"/>
            <a:ext cx="10360152" cy="170282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2" name="TextBox 51"/>
          <p:cNvSpPr txBox="1"/>
          <p:nvPr/>
        </p:nvSpPr>
        <p:spPr>
          <a:xfrm>
            <a:off x="2053200" y="385166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D3F5E"/>
                </a:solidFill>
                <a:latin typeface="Calibri"/>
              </a:rPr>
              <a:t>termelétricas a gás natural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30322" y="3851660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570B3"/>
                </a:solidFill>
                <a:latin typeface="Calibri"/>
              </a:rPr>
              <a:t>↑  eletricidade (estágio 2)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53999" y="385166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↑  trecho omitido</a:t>
            </a:r>
          </a:p>
        </p:txBody>
      </p:sp>
      <p:sp>
        <p:nvSpPr>
          <p:cNvPr id="55" name="O que acontece"/>
          <p:cNvSpPr/>
          <p:nvPr/>
        </p:nvSpPr>
        <p:spPr>
          <a:xfrm>
            <a:off x="914400" y="4526280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201168" rIns="201168" tIns="201168" bIns="20116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5394"/>
                </a:solidFill>
                <a:latin typeface="Calibri"/>
              </a:rPr>
              <a:t>O que acontece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A termelétrica usa gás processado (estágio 3) para gerar eletricidade (estágio 2).</a:t>
            </a:r>
          </a:p>
        </p:txBody>
      </p:sp>
      <p:sp>
        <p:nvSpPr>
          <p:cNvPr id="56" name="Não é erro do modelo"/>
          <p:cNvSpPr/>
          <p:nvPr/>
        </p:nvSpPr>
        <p:spPr>
          <a:xfrm>
            <a:off x="4448556" y="4526280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201168" rIns="201168" tIns="201168" bIns="20116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5394"/>
                </a:solidFill>
                <a:latin typeface="Calibri"/>
              </a:rPr>
              <a:t>Não é erro do modelo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A energia segue o sentido normal. Como a entrada está num estágio posterior ao da saída, a linha volta para a esquerda.</a:t>
            </a:r>
          </a:p>
        </p:txBody>
      </p:sp>
      <p:sp>
        <p:nvSpPr>
          <p:cNvPr id="57" name="Detecção automática"/>
          <p:cNvSpPr/>
          <p:nvPr/>
        </p:nvSpPr>
        <p:spPr>
          <a:xfrm>
            <a:off x="7982712" y="4526280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ctr" wrap="square" lIns="201168" rIns="201168" tIns="201168" bIns="20116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Detecção automática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 i="0">
                <a:solidFill>
                  <a:srgbClr val="CFE2F3"/>
                </a:solidFill>
                <a:latin typeface="Calibri"/>
              </a:rPr>
              <a:t>4 casos no sistema, identificados pela comparação dos estágios, sem declaração do usuário.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Interatividade: um clique isola a cadeia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RESULTADOS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4400" y="1783080"/>
            <a:ext cx="49971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5394"/>
                </a:solidFill>
                <a:latin typeface="Calibri"/>
              </a:rPr>
              <a:t>Selecionando um grupo</a:t>
            </a:r>
          </a:p>
        </p:txBody>
      </p:sp>
      <p:pic>
        <p:nvPicPr>
          <p:cNvPr id="51" name="Selecionando um grupo" descr="Figura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94560"/>
            <a:ext cx="4929808" cy="292608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2" name="TextBox 51"/>
          <p:cNvSpPr txBox="1"/>
          <p:nvPr/>
        </p:nvSpPr>
        <p:spPr>
          <a:xfrm>
            <a:off x="914400" y="5193792"/>
            <a:ext cx="49971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Biomassa e cana têm a mesma cor: o grupo todo é destacado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77356" y="1783080"/>
            <a:ext cx="49971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5394"/>
                </a:solidFill>
                <a:latin typeface="Calibri"/>
              </a:rPr>
              <a:t>Selecionando uma cadeia</a:t>
            </a:r>
          </a:p>
        </p:txBody>
      </p:sp>
      <p:pic>
        <p:nvPicPr>
          <p:cNvPr id="54" name="Selecionando uma cadeia" descr="Figura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7356" y="2194560"/>
            <a:ext cx="3597776" cy="292608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5" name="TextBox 54"/>
          <p:cNvSpPr txBox="1"/>
          <p:nvPr/>
        </p:nvSpPr>
        <p:spPr>
          <a:xfrm>
            <a:off x="6277356" y="5193792"/>
            <a:ext cx="49971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O carvão tem cor exclusiva: só a sua cadeia é destacada</a:t>
            </a:r>
          </a:p>
        </p:txBody>
      </p:sp>
      <p:sp>
        <p:nvSpPr>
          <p:cNvPr id="56" name="Esmaecimento"/>
          <p:cNvSpPr/>
          <p:nvPr/>
        </p:nvSpPr>
        <p:spPr>
          <a:xfrm>
            <a:off x="914400" y="5623560"/>
            <a:ext cx="10360152" cy="59436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ctr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F1F1F"/>
                </a:solidFill>
                <a:latin typeface="Calibri"/>
              </a:rPr>
              <a:t>Ao clicar em um combustível ou tecnologia, as demais cadeias ficam esmaecidas, mas continuam visíveis como contexto.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Validação com a estrutura do sistema energético brasileiro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RESULTADOS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pic>
        <p:nvPicPr>
          <p:cNvPr id="50" name="Detalhe" descr="panorama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83080"/>
            <a:ext cx="5120640" cy="41148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1" name="TextBox 50"/>
          <p:cNvSpPr txBox="1"/>
          <p:nvPr/>
        </p:nvSpPr>
        <p:spPr>
          <a:xfrm>
            <a:off x="914400" y="59527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Detalhe do diagrama gerado automaticamente</a:t>
            </a:r>
          </a:p>
        </p:txBody>
      </p:sp>
      <p:sp>
        <p:nvSpPr>
          <p:cNvPr id="52" name="Stat combustíveis"/>
          <p:cNvSpPr/>
          <p:nvPr/>
        </p:nvSpPr>
        <p:spPr>
          <a:xfrm>
            <a:off x="6400800" y="1783080"/>
            <a:ext cx="1533144" cy="105156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70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combustíveis</a:t>
            </a:r>
          </a:p>
        </p:txBody>
      </p:sp>
      <p:sp>
        <p:nvSpPr>
          <p:cNvPr id="53" name="Stat estágios"/>
          <p:cNvSpPr/>
          <p:nvPr/>
        </p:nvSpPr>
        <p:spPr>
          <a:xfrm>
            <a:off x="8071104" y="1783080"/>
            <a:ext cx="1533144" cy="105156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estágios</a:t>
            </a:r>
          </a:p>
        </p:txBody>
      </p:sp>
      <p:sp>
        <p:nvSpPr>
          <p:cNvPr id="54" name="Stat tecnologias"/>
          <p:cNvSpPr/>
          <p:nvPr/>
        </p:nvSpPr>
        <p:spPr>
          <a:xfrm>
            <a:off x="9741408" y="1783080"/>
            <a:ext cx="1533144" cy="105156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101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tecnologias</a:t>
            </a:r>
          </a:p>
        </p:txBody>
      </p:sp>
      <p:sp>
        <p:nvSpPr>
          <p:cNvPr id="55" name="Stat ligações declaradas"/>
          <p:cNvSpPr/>
          <p:nvPr/>
        </p:nvSpPr>
        <p:spPr>
          <a:xfrm>
            <a:off x="6400800" y="2971800"/>
            <a:ext cx="1533144" cy="105156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106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ligações declaradas</a:t>
            </a:r>
          </a:p>
        </p:txBody>
      </p:sp>
      <p:sp>
        <p:nvSpPr>
          <p:cNvPr id="56" name="Stat conexões de retorno"/>
          <p:cNvSpPr/>
          <p:nvPr/>
        </p:nvSpPr>
        <p:spPr>
          <a:xfrm>
            <a:off x="8071104" y="2971800"/>
            <a:ext cx="1533144" cy="105156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conexões de retorno</a:t>
            </a:r>
          </a:p>
        </p:txBody>
      </p:sp>
      <p:sp>
        <p:nvSpPr>
          <p:cNvPr id="57" name="Stat coordenadas à mão"/>
          <p:cNvSpPr/>
          <p:nvPr/>
        </p:nvSpPr>
        <p:spPr>
          <a:xfrm>
            <a:off x="9741408" y="2971800"/>
            <a:ext cx="1533144" cy="105156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36576" rIns="36576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coordenadas à mão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4206240"/>
            <a:ext cx="487375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Estrutura do sistema: quais combustíveis e tecnologias existem e como se ligam, sem quantidades de energia.</a:t>
            </a:r>
          </a:p>
        </p:txBody>
      </p:sp>
      <p:sp>
        <p:nvSpPr>
          <p:cNvPr id="59" name="Ganho"/>
          <p:cNvSpPr/>
          <p:nvPr/>
        </p:nvSpPr>
        <p:spPr>
          <a:xfrm>
            <a:off x="6400800" y="4846320"/>
            <a:ext cx="4873752" cy="105156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ctr" wrap="square" lIns="182880" rIns="182880" tIns="182880" bIns="18288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FE2F3"/>
                </a:solidFill>
                <a:latin typeface="Calibri"/>
              </a:rPr>
              <a:t>Antes: </a:t>
            </a:r>
            <a:r>
              <a:rPr sz="1500" b="0" i="0">
                <a:solidFill>
                  <a:srgbClr val="CFE2F3"/>
                </a:solidFill>
                <a:latin typeface="Calibri"/>
              </a:rPr>
              <a:t>dias de desenho manual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Agora: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altera a planilha e atualiza em segundos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Conclusões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CONCLUSÕES</a:t>
            </a:r>
          </a:p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Oval 49"/>
          <p:cNvSpPr/>
          <p:nvPr/>
        </p:nvSpPr>
        <p:spPr>
          <a:xfrm>
            <a:off x="914400" y="1874519"/>
            <a:ext cx="502920" cy="50292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783080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Ferramenta entregue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Gera o diagrama completo e interativo a partir de duas tabelas, funcional e documentada</a:t>
            </a:r>
          </a:p>
        </p:txBody>
      </p:sp>
      <p:sp>
        <p:nvSpPr>
          <p:cNvPr id="52" name="Oval 51"/>
          <p:cNvSpPr/>
          <p:nvPr/>
        </p:nvSpPr>
        <p:spPr>
          <a:xfrm>
            <a:off x="914400" y="2990088"/>
            <a:ext cx="502920" cy="50292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2898648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Atualização automática do diagrama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O diagrama acompanha o modelo: altera a planilha e atualiza</a:t>
            </a:r>
          </a:p>
        </p:txBody>
      </p:sp>
      <p:sp>
        <p:nvSpPr>
          <p:cNvPr id="54" name="Oval 53"/>
          <p:cNvSpPr/>
          <p:nvPr/>
        </p:nvSpPr>
        <p:spPr>
          <a:xfrm>
            <a:off x="914400" y="4105655"/>
            <a:ext cx="502920" cy="50292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45920" y="4014215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Contribuição técnica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“Nós fantasmas”: disposição sem sobreposição apenas com transformações de tabela</a:t>
            </a:r>
          </a:p>
        </p:txBody>
      </p:sp>
      <p:sp>
        <p:nvSpPr>
          <p:cNvPr id="56" name="Oval 55"/>
          <p:cNvSpPr/>
          <p:nvPr/>
        </p:nvSpPr>
        <p:spPr>
          <a:xfrm>
            <a:off x="914400" y="5221224"/>
            <a:ext cx="502920" cy="50292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45920" y="5129784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Método de aplicação geral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Opera sobre a forma do grafo: serve a outros fluxos, como materiais e cadeias produtivas</a:t>
            </a:r>
          </a:p>
        </p:txBody>
      </p:sp>
      <p:sp>
        <p:nvSpPr>
          <p:cNvPr id="58" name="Trabalhos futuros"/>
          <p:cNvSpPr/>
          <p:nvPr/>
        </p:nvSpPr>
        <p:spPr>
          <a:xfrm>
            <a:off x="7543800" y="1783080"/>
            <a:ext cx="3730752" cy="43434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t" wrap="square" lIns="274320" rIns="274320" tIns="274320" bIns="27432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B5394"/>
                </a:solidFill>
                <a:latin typeface="Calibri"/>
              </a:rPr>
              <a:t>Trabalhos futuros</a:t>
            </a:r>
          </a:p>
          <a:p>
            <a:pPr algn="l" marL="201168" indent="-20116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Parametrizar as constantes de disposição na interface</a:t>
            </a:r>
          </a:p>
          <a:p>
            <a:pPr algn="l" marL="201168" indent="-20116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Reativar a rastreabilidade com cálculo otimizado</a:t>
            </a:r>
          </a:p>
          <a:p>
            <a:pPr algn="l" marL="201168" indent="-20116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Espessura das linhas proporcional ao fluxo</a:t>
            </a:r>
          </a:p>
          <a:p>
            <a:pPr algn="l" marL="201168" indent="-20116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Diagnósticos automáticos de consistência do modelo</a:t>
            </a:r>
          </a:p>
          <a:p>
            <a:pPr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Calibri"/>
              </a:rPr>
              <a:t>Código-fonte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0B5394"/>
                </a:solidFill>
                <a:latin typeface="Calibri"/>
                <a:hlinkClick r:id="rId3"/>
              </a:rPr>
              <a:t>github.com/Freddieij/DDFE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394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h1ec743f50bf0b802_0_0"/>
          <p:cNvSpPr txBox="1"/>
          <p:nvPr>
            <p:ph type="title"/>
          </p:nvPr>
        </p:nvSpPr>
        <p:spPr>
          <a:xfrm>
            <a:off x="838200" y="0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XVI Seminário de Iniciação à Inovação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h1ec743f50bf0b802_0_0"/>
          <p:cNvSpPr/>
          <p:nvPr/>
        </p:nvSpPr>
        <p:spPr>
          <a:xfrm>
            <a:off x="0" y="5505876"/>
            <a:ext cx="12192000" cy="13521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h1ec743f50bf0b802_0_0"/>
          <p:cNvSpPr txBox="1"/>
          <p:nvPr>
            <p:ph idx="1" type="body"/>
          </p:nvPr>
        </p:nvSpPr>
        <p:spPr>
          <a:xfrm>
            <a:off x="838200" y="3888425"/>
            <a:ext cx="10515600" cy="8985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Frederico José Poli Antunes</a:t>
            </a:r>
            <a:endParaRPr sz="2400"/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github.com/Freddieij/DDFE  ·  Apoio: CNPq (PIBITI/PIBINOVA UFF 2025-2026)</a:t>
            </a:r>
            <a:endParaRPr sz="2400"/>
          </a:p>
        </p:txBody>
      </p:sp>
      <p:sp>
        <p:nvSpPr>
          <p:cNvPr id="87" name="Google Shape;87;h1ec743f50bf0b802_0_0"/>
          <p:cNvSpPr txBox="1"/>
          <p:nvPr>
            <p:ph idx="4294967295" type="ctrTitle"/>
          </p:nvPr>
        </p:nvSpPr>
        <p:spPr>
          <a:xfrm>
            <a:off x="1885950" y="1601287"/>
            <a:ext cx="84201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</a:pPr>
            <a:r>
              <a:rPr lang="pt-BR" sz="54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Obrigado!</a:t>
            </a:r>
            <a:endParaRPr sz="6000"/>
          </a:p>
        </p:txBody>
      </p:sp>
      <p:pic>
        <p:nvPicPr>
          <p:cNvPr id="88" name="Google Shape;88;h1ec743f50bf0b802_0_0" title="logouff_vertical_azul-1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30675" y="5571363"/>
            <a:ext cx="1192300" cy="1221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h1ec743f50bf0b802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81930" y="5658380"/>
            <a:ext cx="2628129" cy="1047097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h1ec743f50bf0b802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69000" y="5653612"/>
            <a:ext cx="2460443" cy="10566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2024-09-11T20:15:35Z</dcterms:created>
  <dc:creator>Carlos Frederico Queiroz de Andrade</dc:creator>
</cp:coreProperties>
</file>