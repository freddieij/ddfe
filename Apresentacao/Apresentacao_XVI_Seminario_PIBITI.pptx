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G9xRShBp3ilWKTZNJKLFsLzZH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1ec743f50bf0b80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1ec743f50bf0b8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[~20 s] Bom dia. Sou o Frederico, bolsista PIBITI sob orientação do Prof. Tiago Abud. O título é o da proposta original; vou explicar em seguida por que o enfoque mudou.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[~50 s] A proposta submetida era aplicar computação paralela à simulação estocástica de redes elétricas com recursos energéticos distribuídos, usando OpenDSS e Python. Ao longo do ano houve a necessidade de mudar o enfoque: atuei em apoio ao Prof. Bruno Borba no projeto de P&amp;D 'Impactos do Crescimento da Frota de Veículos Elétricos no Sistema Eletro-Energético e Avaliação do Ciclo de Vida em Comparação com Veículos à Combustão', por causa da alta demanda de trabalho desse projeto. O tema continua ligado à proposta: planejamento energético do sistema elétrico, REDs e VEs. É comum que o bolsista faça um trabalho um pouco diferente do submetido. No P&amp;D, o planejamento é feito com o OSeMOSYS, e foi dali que surgiu o problema que este trabalho resolve.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[~50 s] No OSeMOSYS, o sistema energético é descrito como uma rede: combustíveis, organizados por estágio da cadeia energética, ligados por tecnologias de extração, conversão, transporte e uso final. O desenho dessa rede é o RES, a especificação visual do modelo. À esquerda está o RES de referência do projeto, desenhado à mão. Um RES realista tem cerca de 170 nós e mais de 100 arestas e leva dias para desenhar. O problema maior é a manutenção: qualquer alteração no modelo invalida o desenho, que congela numa versão antiga e deixa de documentar o modelo.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[~50 s] Gerar o RES automaticamente não é novidade. O otoole, suíte oficial do OSeMOSYS, faz isso com o Graphviz, mas a coluna de cada nó é inferida pela topologia, e não pelo estágio que o modelador declarou; os combustíveis viram pontos sem rótulo; e a saída é uma imagem estática. Os visuais de Sankey do Power BI codificam volume, derivam o eixo do grafo e não tratam fluxos reversos. A lacuna é gerar um RES que respeite o estágio declarado, com combustíveis rotulados, fluxos reversos roteados e interatividade, dentro da plataforma de BI. Na revisão feita, não encontramos implementação equivalente nativa em plataforma de BI.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[~40 s] O objetivo geral foi desenvolver o Diagrama Dinâmico de Fluxo Energético, o DDFE: gerar automaticamente o RES completo e interativo a partir das duas tabelas que o modelador já mantém, dentro do Power BI. Os objetivos específicos foram: preservar a semântica do estágio; calcular o layout sem sobreposição, incluindo fluxos reversos; permitir isolar cadeias com um clique; e manter o código versionado e documentado.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[~50 s] Em vez de usar um visual pronto, construímos um motor em duas camadas. A entrada são duas abas de Excel: Fuels, com combustível, estágio e cor; e Techs, com tecnologia, entrada e saída. O back-end em Power Query, linguagem M, tem nove consultas e 556 linhas e calcula todas as coordenadas. O front-end em Deneb, com Vega, só desenha e cuida da interação. Separar as camadas permitiu desenvolver e depurar cada uma isoladamente. Nenhuma coordenada é desenhada à mão.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[~60 s] Este é o principal resultado técnico. Uma conexão longa, por exemplo de um combustível do estágio 1 até uma demanda do estágio 5, passa por cima de caixas de outras tecnologias, como em (a). Desviar a linha exigiria busca em grade, inviável em M, que não tem estado mutável nem laços. A solução foi reservar espaço antes de desenhar: cada coluna ocupada que a conexão cruza recebe um nó fantasma invisível, que conta na densidade da raia, como em (b). A raia passa a reservar mais linhas, e em (c) a conexão percorre uma linha livre. Tudo é feito com agrupamentos, somas acumuladas e junções de tabela. A troca é deliberada: o diagrama fica um pouco mais alto, mas o algoritmo é determinístico.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[~35 s] Um caso que os visuais de mercado rejeitam é o fluxo reverso: a termelétrica a gás consome gás processado, do estágio 3, e gera eletricidade, que está no estágio 2. O back-end detecta isso comparando os estágios de entrada e saída, sem o usuário declarar nada, e o Vega desenha uma rota em ponte por cima das caixas. No sistema de validação há quatro casos, todos roteados automaticamente.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[~50 s] O diagrama deixou de ser imagem e virou interface. No estado íntegro, tudo aparece em opacidade plena. Ao clicar em BIO, acende todo o grupo de cor: BIO e CAN compartilham a cor no cadastro, então as demandas de biomassa, a usina PWRBIO e a rota de etanol PROETA1 acendem juntas. A cor expressa a classe do vetor energético. Ao clicar em COA, que tem cor exclusiva, só a cadeia do carvão fica em destaque, e a da biomassa continua visível ao fundo, atenuada. Cada linha tem 2 pixels, mas a área de clique invisível tem 45 pixels, o que torna o clique viável num diagrama denso.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[~45 s] A ferramenta foi validada num sistema energético nacional estilizado com 70 combustíveis em 5 estágios, 101 tecnologias e 106 ligações declaradas na planilha, incluindo 25 tecnologias-fonte e 4 fluxos reversos. Também foi testada com bases de topologia aleatória, com casos patológicos, para confirmar que o layout não depende deste sistema específico. A figura é só um recorte: o diagrama inteiro tem milhares de pixels nos dois eixos, por isso zoom e destaque são essenciais. O ganho principal: o que levava dias à mão agora se atualiza em segundos, e manter o diagrama sincronizado com o modelo passa a custar praticamente zero.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[~50 s] Para concluir: entregamos um gerador automático e interativo de diagramas RES, funcional e documentado. O ganho mais importante é na manutenção: manter o diagrama sincronizado com o modelo passa a custar praticamente zero. O algoritmo de nós fantasmas resolve a sobreposição só com transformações de tabela, e o método opera sobre a forma do grafo, então serve para outros fluxos em camadas, como materiais e cadeias produtivas. Como próximos passos: parametrizar o layout, reativar a rastreabilidade de forma otimizada, dimensionar as linhas pelo volume de fluxo e usar o grafo para diagnosticar inconsistências no modelo. Obrigado.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[~10 s] Obrigado. Fico à disposição para perguntas.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1ec743f50bf0b802_0_0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XVI Seminário de Iniciação à Inovação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1ec743f50bf0b802_0_0"/>
          <p:cNvSpPr/>
          <p:nvPr/>
        </p:nvSpPr>
        <p:spPr>
          <a:xfrm>
            <a:off x="0" y="5505876"/>
            <a:ext cx="12192000" cy="13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1ec743f50bf0b802_0_0"/>
          <p:cNvSpPr txBox="1"/>
          <p:nvPr>
            <p:ph idx="1" type="body"/>
          </p:nvPr>
        </p:nvSpPr>
        <p:spPr>
          <a:xfrm>
            <a:off x="838200" y="3888425"/>
            <a:ext cx="10515600" cy="89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Bolsista: Frederico José Poli Antunes</a:t>
            </a:r>
            <a:endParaRPr sz="24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Orientador: Prof. Tiago Pires Abud</a:t>
            </a:r>
            <a:endParaRPr sz="2400"/>
          </a:p>
        </p:txBody>
      </p:sp>
      <p:sp>
        <p:nvSpPr>
          <p:cNvPr id="87" name="Google Shape;87;h1ec743f50bf0b802_0_0"/>
          <p:cNvSpPr txBox="1"/>
          <p:nvPr>
            <p:ph idx="4294967295" type="ctrTitle"/>
          </p:nvPr>
        </p:nvSpPr>
        <p:spPr>
          <a:xfrm>
            <a:off x="1885950" y="1601287"/>
            <a:ext cx="84201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pt-BR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Computação Paralela Aplicada à Simulação Estocástica de Redes Elétricas com Recursos Energéticos Distribuídos</a:t>
            </a:r>
            <a:endParaRPr sz="6000"/>
          </a:p>
        </p:txBody>
      </p:sp>
      <p:pic>
        <p:nvPicPr>
          <p:cNvPr id="88" name="Google Shape;88;h1ec743f50bf0b802_0_0" title="logouff_vertical_azul-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0675" y="5571363"/>
            <a:ext cx="1192300" cy="122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h1ec743f50bf0b80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1930" y="5658380"/>
            <a:ext cx="2628129" cy="104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h1ec743f50bf0b802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9000" y="5653612"/>
            <a:ext cx="2460443" cy="1056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Contexto: da proposta original ao P&amp;D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INTRODUÇÃO</a:t>
            </a:r>
          </a:p>
        </p:txBody>
      </p:sp>
      <p:sp>
        <p:nvSpPr>
          <p:cNvPr id="4" name="Proposta"/>
          <p:cNvSpPr/>
          <p:nvPr/>
        </p:nvSpPr>
        <p:spPr>
          <a:xfrm>
            <a:off x="914400" y="1874519"/>
            <a:ext cx="4160520" cy="32004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95959"/>
                </a:solidFill>
                <a:latin typeface="Calibri"/>
              </a:rPr>
              <a:t>PROPOSTA SUBMETIDA (PIBITI)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Calibri"/>
              </a:rPr>
              <a:t>Computação paralela aplicada à simulação estocástica de redes elétricas com REDs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OpenDSS + Python, para reduzir o tempo de simulação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03520" y="3154679"/>
            <a:ext cx="1005840" cy="640080"/>
          </a:xfrm>
          <a:prstGeom prst="rightArrow">
            <a:avLst/>
          </a:prstGeom>
          <a:solidFill>
            <a:srgbClr val="9DB4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38862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mudança de enfoque</a:t>
            </a:r>
          </a:p>
        </p:txBody>
      </p:sp>
      <p:sp>
        <p:nvSpPr>
          <p:cNvPr id="7" name="PeD"/>
          <p:cNvSpPr/>
          <p:nvPr/>
        </p:nvSpPr>
        <p:spPr>
          <a:xfrm>
            <a:off x="6492240" y="1874519"/>
            <a:ext cx="4782312" cy="3200400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E2F3"/>
                </a:solidFill>
                <a:latin typeface="Calibri"/>
              </a:rPr>
              <a:t>PROJETO DE P&amp;D (VEÍCULOS ELÉTRICOS)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“Impactos do Crescimento da Frota de Veículos Elétricos no Sistema Eletro-Energético e Avaliação do Ciclo de Vida em Comparação com Veículos à Combustão”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CFE2F3"/>
                </a:solidFill>
                <a:latin typeface="Calibri"/>
              </a:rPr>
              <a:t>Planejamento energético do SEP, REDs e VEs, com modelagem no OSeMOSYS. Atuação junto ao Prof. Bruno Borba.</a:t>
            </a:r>
          </a:p>
        </p:txBody>
      </p:sp>
      <p:sp>
        <p:nvSpPr>
          <p:cNvPr id="8" name="Motivo"/>
          <p:cNvSpPr/>
          <p:nvPr/>
        </p:nvSpPr>
        <p:spPr>
          <a:xfrm>
            <a:off x="914400" y="5349240"/>
            <a:ext cx="10360152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5394"/>
                </a:solidFill>
                <a:latin typeface="Calibri"/>
              </a:rPr>
              <a:t>Por quê: </a:t>
            </a:r>
            <a:r>
              <a:rPr sz="1600" b="0" i="0">
                <a:solidFill>
                  <a:srgbClr val="1F1F1F"/>
                </a:solidFill>
                <a:latin typeface="Calibri"/>
              </a:rPr>
              <a:t>alta demanda de trabalho do P&amp;D, em tema ligado à proposta original. Este trabalho automatiza um instrumento do planejamento: o diagrama 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Diagrama de Fluxo de Energia de Referência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INTRODUÇÃO</a:t>
            </a:r>
          </a:p>
        </p:txBody>
      </p:sp>
      <p:pic>
        <p:nvPicPr>
          <p:cNvPr id="4" name="RES manual" descr="cadeias_rec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4118610" cy="42062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6044183"/>
            <a:ext cx="41186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RES de referência do projeto, desenhado à mão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0210" y="1783080"/>
            <a:ext cx="578434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Grafo dirigido que é a especificação visual de um modelo OSeMOSYS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B539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Combustíveis (linhas verticais), ordenados por estágio: do recurso primário à demanda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Tecnologias (caixas) consomem e produzem combustíveis</a:t>
            </a:r>
          </a:p>
        </p:txBody>
      </p:sp>
      <p:sp>
        <p:nvSpPr>
          <p:cNvPr id="7" name="Stat nós"/>
          <p:cNvSpPr/>
          <p:nvPr/>
        </p:nvSpPr>
        <p:spPr>
          <a:xfrm>
            <a:off x="5490210" y="3657600"/>
            <a:ext cx="1806194" cy="1143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5394"/>
                </a:solidFill>
                <a:latin typeface="Calibri"/>
              </a:rPr>
              <a:t>~170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nós</a:t>
            </a:r>
          </a:p>
        </p:txBody>
      </p:sp>
      <p:sp>
        <p:nvSpPr>
          <p:cNvPr id="8" name="Stat arestas"/>
          <p:cNvSpPr/>
          <p:nvPr/>
        </p:nvSpPr>
        <p:spPr>
          <a:xfrm>
            <a:off x="7479284" y="3657600"/>
            <a:ext cx="1806194" cy="1143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5394"/>
                </a:solidFill>
                <a:latin typeface="Calibri"/>
              </a:rPr>
              <a:t>100+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arestas</a:t>
            </a:r>
          </a:p>
        </p:txBody>
      </p:sp>
      <p:sp>
        <p:nvSpPr>
          <p:cNvPr id="9" name="Stat de desenho à mão"/>
          <p:cNvSpPr/>
          <p:nvPr/>
        </p:nvSpPr>
        <p:spPr>
          <a:xfrm>
            <a:off x="9468358" y="3657600"/>
            <a:ext cx="1806194" cy="1143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5394"/>
                </a:solidFill>
                <a:latin typeface="Calibri"/>
              </a:rPr>
              <a:t>dias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de desenho à mão</a:t>
            </a:r>
          </a:p>
        </p:txBody>
      </p:sp>
      <p:sp>
        <p:nvSpPr>
          <p:cNvPr id="10" name="Problema"/>
          <p:cNvSpPr/>
          <p:nvPr/>
        </p:nvSpPr>
        <p:spPr>
          <a:xfrm>
            <a:off x="5490210" y="5029200"/>
            <a:ext cx="5784342" cy="960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  <p:txBody>
          <a:bodyPr rtlCol="0" anchor="ctr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3A2E"/>
                </a:solidFill>
                <a:latin typeface="Calibri"/>
              </a:rPr>
              <a:t>Problema: </a:t>
            </a:r>
            <a:r>
              <a:rPr sz="1500" b="0" i="0">
                <a:solidFill>
                  <a:srgbClr val="1F1F1F"/>
                </a:solidFill>
                <a:latin typeface="Calibri"/>
              </a:rPr>
              <a:t>cada alteração no modelo invalida o desenho, e o diagrama deixa de corresponder ao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Estado da arte e lacuna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INTRODUÇÃO</a:t>
            </a:r>
          </a:p>
        </p:txBody>
      </p:sp>
      <p:sp>
        <p:nvSpPr>
          <p:cNvPr id="4" name="otoole viz res"/>
          <p:cNvSpPr/>
          <p:nvPr/>
        </p:nvSpPr>
        <p:spPr>
          <a:xfrm>
            <a:off x="914400" y="182880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otoole viz 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suíte oficial do OSeMOSYS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D32"/>
              </a:buClr>
              <a:buFont typeface="Segoe UI Symbol"/>
              <a:buChar char="✓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Gera o RES automaticamente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03A2E"/>
              </a:buClr>
              <a:buFont typeface="Segoe UI Symbol"/>
              <a:buChar char="✗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Coluna inferida pela topologia, não pelo estágio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03A2E"/>
              </a:buClr>
              <a:buFont typeface="Segoe UI Symbol"/>
              <a:buChar char="✗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Combustíveis viram pontos sem rótulo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03A2E"/>
              </a:buClr>
              <a:buFont typeface="Segoe UI Symbol"/>
              <a:buChar char="✗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Saída é imagem estática</a:t>
            </a:r>
          </a:p>
        </p:txBody>
      </p:sp>
      <p:sp>
        <p:nvSpPr>
          <p:cNvPr id="5" name="Sankey e visuais de rede"/>
          <p:cNvSpPr/>
          <p:nvPr/>
        </p:nvSpPr>
        <p:spPr>
          <a:xfrm>
            <a:off x="4448556" y="182880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Sankey e visuais de rede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plataformas de BI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D32"/>
              </a:buClr>
              <a:buFont typeface="Segoe UI Symbol"/>
              <a:buChar char="✓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Já dentro do Power BI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03A2E"/>
              </a:buClr>
              <a:buFont typeface="Segoe UI Symbol"/>
              <a:buChar char="✗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Eixo derivado do grafo, não do estágio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03A2E"/>
              </a:buClr>
              <a:buFont typeface="Segoe UI Symbol"/>
              <a:buChar char="✗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Espessura codifica volume, não topologia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03A2E"/>
              </a:buClr>
              <a:buFont typeface="Segoe UI Symbol"/>
              <a:buChar char="✗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Fluxos reversos ficam ilegíveis</a:t>
            </a:r>
          </a:p>
        </p:txBody>
      </p:sp>
      <p:sp>
        <p:nvSpPr>
          <p:cNvPr id="6" name="DDFE (este trabalho)"/>
          <p:cNvSpPr/>
          <p:nvPr/>
        </p:nvSpPr>
        <p:spPr>
          <a:xfrm>
            <a:off x="7982712" y="182880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DDFE (este trabalho)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CFE2F3"/>
                </a:solidFill>
                <a:latin typeface="Calibri"/>
              </a:rPr>
              <a:t>Power BI + Power Query + Deneb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A5D6A7"/>
              </a:buClr>
              <a:buFont typeface="Segoe UI Symbol"/>
              <a:buChar char="✓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Coluna imposta pelo estágio declarado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A5D6A7"/>
              </a:buClr>
              <a:buFont typeface="Segoe UI Symbol"/>
              <a:buChar char="✓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Combustíveis como eixos rotulados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A5D6A7"/>
              </a:buClr>
              <a:buFont typeface="Segoe UI Symbol"/>
              <a:buChar char="✓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Fluxos reversos roteados</a:t>
            </a:r>
          </a:p>
          <a:p>
            <a:pPr algn="l" marL="256032" indent="-25603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A5D6A7"/>
              </a:buClr>
              <a:buFont typeface="Segoe UI Symbol"/>
              <a:buChar char="✓"/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Interativo, dentro do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Na revisão realizada, não foi identificada implementação equivalente nativa em plataforma de 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Objetivos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OBJETIVOS</a:t>
            </a:r>
          </a:p>
        </p:txBody>
      </p:sp>
      <p:sp>
        <p:nvSpPr>
          <p:cNvPr id="4" name="Objetivo geral"/>
          <p:cNvSpPr/>
          <p:nvPr/>
        </p:nvSpPr>
        <p:spPr>
          <a:xfrm>
            <a:off x="914400" y="1783080"/>
            <a:ext cx="10360152" cy="1280160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E2F3"/>
                </a:solidFill>
                <a:latin typeface="Calibri"/>
              </a:rPr>
              <a:t>OBJETIVO GERAL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Desenvolver o Diagrama Dinâmico de Fluxo Energético (DDFE):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gerar automaticamente o RES completo e interativo a partir de duas tabelas que o modelador já mantém, dentro do Power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101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5394"/>
                </a:solidFill>
                <a:latin typeface="Calibri"/>
              </a:rPr>
              <a:t>OBJETIVOS ESPECÍFICOS</a:t>
            </a:r>
          </a:p>
        </p:txBody>
      </p:sp>
      <p:sp>
        <p:nvSpPr>
          <p:cNvPr id="6" name="Especifico 1"/>
          <p:cNvSpPr/>
          <p:nvPr/>
        </p:nvSpPr>
        <p:spPr>
          <a:xfrm>
            <a:off x="914400" y="365760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3886200"/>
            <a:ext cx="548640" cy="54864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617720"/>
            <a:ext cx="1920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Calibri"/>
              </a:rPr>
              <a:t>Semântica preservada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Coluna de cada combustível definida pelo estágio energético declarado</a:t>
            </a:r>
          </a:p>
        </p:txBody>
      </p:sp>
      <p:sp>
        <p:nvSpPr>
          <p:cNvPr id="9" name="Especifico 2"/>
          <p:cNvSpPr/>
          <p:nvPr/>
        </p:nvSpPr>
        <p:spPr>
          <a:xfrm>
            <a:off x="3575304" y="365760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03904" y="3886200"/>
            <a:ext cx="548640" cy="54864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904" y="4617720"/>
            <a:ext cx="1920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Calibri"/>
              </a:rPr>
              <a:t>Layout automático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Posições e roteamento sem sobreposição, inclusive fluxos reversos</a:t>
            </a:r>
          </a:p>
        </p:txBody>
      </p:sp>
      <p:sp>
        <p:nvSpPr>
          <p:cNvPr id="12" name="Especifico 3"/>
          <p:cNvSpPr/>
          <p:nvPr/>
        </p:nvSpPr>
        <p:spPr>
          <a:xfrm>
            <a:off x="6236208" y="365760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64808" y="3886200"/>
            <a:ext cx="548640" cy="54864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4617720"/>
            <a:ext cx="1920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Calibri"/>
              </a:rPr>
              <a:t>Interatividade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Um clique isola a cadeia energética correspondente</a:t>
            </a:r>
          </a:p>
        </p:txBody>
      </p:sp>
      <p:sp>
        <p:nvSpPr>
          <p:cNvPr id="15" name="Especifico 4"/>
          <p:cNvSpPr/>
          <p:nvPr/>
        </p:nvSpPr>
        <p:spPr>
          <a:xfrm>
            <a:off x="8897112" y="365760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25712" y="3886200"/>
            <a:ext cx="548640" cy="54864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617720"/>
            <a:ext cx="1920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Calibri"/>
              </a:rPr>
              <a:t>Código auditável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Versionado como texto e documentado para usuário e desenvolvedor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Solução: motor próprio em duas camadas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RESULTADOS</a:t>
            </a:r>
          </a:p>
        </p:txBody>
      </p:sp>
      <p:sp>
        <p:nvSpPr>
          <p:cNvPr id="4" name="Excel"/>
          <p:cNvSpPr/>
          <p:nvPr/>
        </p:nvSpPr>
        <p:spPr>
          <a:xfrm>
            <a:off x="914400" y="178308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394"/>
                </a:solidFill>
                <a:latin typeface="Calibri"/>
              </a:rPr>
              <a:t>ENTRADA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Excel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2 abas: Fuels e Techs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65932" y="2331720"/>
            <a:ext cx="274320" cy="365760"/>
          </a:xfrm>
          <a:prstGeom prst="rightArrow">
            <a:avLst/>
          </a:prstGeom>
          <a:solidFill>
            <a:srgbClr val="9DB4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ower Query (M)"/>
          <p:cNvSpPr/>
          <p:nvPr/>
        </p:nvSpPr>
        <p:spPr>
          <a:xfrm>
            <a:off x="3605784" y="178308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394"/>
                </a:solidFill>
                <a:latin typeface="Calibri"/>
              </a:rPr>
              <a:t>BACK-END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Power Query (M)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9 consultas · 556 linhas
calcula as coordenadas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57316" y="2331720"/>
            <a:ext cx="274320" cy="365760"/>
          </a:xfrm>
          <a:prstGeom prst="rightArrow">
            <a:avLst/>
          </a:prstGeom>
          <a:solidFill>
            <a:srgbClr val="9DB4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eneb (Vega v5)"/>
          <p:cNvSpPr/>
          <p:nvPr/>
        </p:nvSpPr>
        <p:spPr>
          <a:xfrm>
            <a:off x="6297168" y="178308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394"/>
                </a:solidFill>
                <a:latin typeface="Calibri"/>
              </a:rPr>
              <a:t>FRONT-END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Deneb (Vega v5)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~1.030 linhas · 16 marcas
desenha e interage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48700" y="2331720"/>
            <a:ext cx="274320" cy="365760"/>
          </a:xfrm>
          <a:prstGeom prst="rightArrow">
            <a:avLst/>
          </a:prstGeom>
          <a:solidFill>
            <a:srgbClr val="9DB4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Diagrama RES"/>
          <p:cNvSpPr/>
          <p:nvPr/>
        </p:nvSpPr>
        <p:spPr>
          <a:xfrm>
            <a:off x="8988552" y="1783080"/>
            <a:ext cx="2286000" cy="1463040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E2F3"/>
                </a:solidFill>
                <a:latin typeface="Calibri"/>
              </a:rPr>
              <a:t>SAÍDA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Diagrama RES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CFE2F3"/>
                </a:solidFill>
                <a:latin typeface="Calibri"/>
              </a:rPr>
              <a:t>interativo no Power BI</a:t>
            </a:r>
          </a:p>
        </p:txBody>
      </p:sp>
      <p:pic>
        <p:nvPicPr>
          <p:cNvPr id="11" name="Entrada Excel" descr="fig-entrada-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6368994" cy="26060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649154" y="3611880"/>
            <a:ext cx="3625397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F1F1F"/>
                </a:solidFill>
                <a:latin typeface="Calibri"/>
              </a:rPr>
              <a:t>Entrada mínima: a planilha que o modelador já mantém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B5394"/>
              </a:buClr>
              <a:buFont typeface="Arial"/>
              <a:buChar char="•"/>
            </a:pPr>
            <a:r>
              <a:rPr sz="1500" b="1" i="0">
                <a:solidFill>
                  <a:srgbClr val="1F1F1F"/>
                </a:solidFill>
                <a:latin typeface="Calibri"/>
              </a:rPr>
              <a:t>Fuels: </a:t>
            </a:r>
            <a:r>
              <a:rPr sz="1500" b="0" i="0">
                <a:solidFill>
                  <a:srgbClr val="1F1F1F"/>
                </a:solidFill>
                <a:latin typeface="Calibri"/>
              </a:rPr>
              <a:t>combustível, estágio e cor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B5394"/>
              </a:buClr>
              <a:buFont typeface="Arial"/>
              <a:buChar char="•"/>
            </a:pPr>
            <a:r>
              <a:rPr sz="1500" b="1" i="0">
                <a:solidFill>
                  <a:srgbClr val="1F1F1F"/>
                </a:solidFill>
                <a:latin typeface="Calibri"/>
              </a:rPr>
              <a:t>Techs: </a:t>
            </a:r>
            <a:r>
              <a:rPr sz="1500" b="0" i="0">
                <a:solidFill>
                  <a:srgbClr val="1F1F1F"/>
                </a:solidFill>
                <a:latin typeface="Calibri"/>
              </a:rPr>
              <a:t>tecnologia, entrada e saída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B539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Várias saídas = várias linhas (ex.: PROETA1)</a:t>
            </a:r>
          </a:p>
          <a:p>
            <a:pPr algn="l"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Font typeface="Arial"/>
              <a:buChar char="•"/>
            </a:pPr>
            <a:r>
              <a:rPr sz="1500" b="1" i="0">
                <a:solidFill>
                  <a:srgbClr val="0B5394"/>
                </a:solidFill>
                <a:latin typeface="Calibri"/>
              </a:rPr>
              <a:t>Nenhuma coordenada desenhada à mão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Raias elásticas com nós fantasmas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RESULTADOS</a:t>
            </a:r>
          </a:p>
        </p:txBody>
      </p:sp>
      <p:pic>
        <p:nvPicPr>
          <p:cNvPr id="4" name="Nos fantasmas" descr="fantas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7040880" cy="37864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752411"/>
            <a:ext cx="7040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Troca deliberada: diagrama um pouco mais alto, algoritmo determinístico.</a:t>
            </a:r>
          </a:p>
        </p:txBody>
      </p:sp>
      <p:sp>
        <p:nvSpPr>
          <p:cNvPr id="6" name="O problema"/>
          <p:cNvSpPr/>
          <p:nvPr/>
        </p:nvSpPr>
        <p:spPr>
          <a:xfrm>
            <a:off x="8321040" y="1828800"/>
            <a:ext cx="2953512" cy="129844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164592" rIns="164592" tIns="164592" bIns="16459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5394"/>
                </a:solidFill>
                <a:latin typeface="Calibri"/>
              </a:rPr>
              <a:t>O problema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>Conexões longas passam por cima de caixas de outras tecnologias.</a:t>
            </a:r>
          </a:p>
        </p:txBody>
      </p:sp>
      <p:sp>
        <p:nvSpPr>
          <p:cNvPr id="7" name="A ideia"/>
          <p:cNvSpPr/>
          <p:nvPr/>
        </p:nvSpPr>
        <p:spPr>
          <a:xfrm>
            <a:off x="8321040" y="3310128"/>
            <a:ext cx="2953512" cy="129844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164592" rIns="164592" tIns="164592" bIns="16459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5394"/>
                </a:solidFill>
                <a:latin typeface="Calibri"/>
              </a:rPr>
              <a:t>A ideia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>Reservar espaço antes de desenhar: cada coluna cruzada ganha um nó fantasma invisível.</a:t>
            </a:r>
          </a:p>
        </p:txBody>
      </p:sp>
      <p:sp>
        <p:nvSpPr>
          <p:cNvPr id="8" name="Por que cabe em M"/>
          <p:cNvSpPr/>
          <p:nvPr/>
        </p:nvSpPr>
        <p:spPr>
          <a:xfrm>
            <a:off x="8321040" y="4791456"/>
            <a:ext cx="2953512" cy="129844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164592" rIns="164592" tIns="164592" bIns="16459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5394"/>
                </a:solidFill>
                <a:latin typeface="Calibri"/>
              </a:rPr>
              <a:t>Por que cabe em M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Calibri"/>
              </a:rPr>
              <a:t>Sem busca em grade nem estado mutável: só agrupamentos, somas acumuladas e junções de tabela.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Fluxos reversos roteados automaticamente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RESULTADOS</a:t>
            </a:r>
          </a:p>
        </p:txBody>
      </p:sp>
      <p:pic>
        <p:nvPicPr>
          <p:cNvPr id="4" name="Fluxos reversos" descr="Figur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7223760" cy="2930045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4813709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Termelétricas PWRHFO, PWRNGS1 e PWRNGS2: o retorno contorna as caixas pela esquerda</a:t>
            </a:r>
          </a:p>
        </p:txBody>
      </p:sp>
      <p:sp>
        <p:nvSpPr>
          <p:cNvPr id="6" name="Stat 4"/>
          <p:cNvSpPr/>
          <p:nvPr/>
        </p:nvSpPr>
        <p:spPr>
          <a:xfrm>
            <a:off x="8503920" y="1828800"/>
            <a:ext cx="2770631" cy="1600200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FE2F3"/>
                </a:solidFill>
                <a:latin typeface="Calibri"/>
              </a:rPr>
              <a:t>fluxos reversos detectados e roteados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611880"/>
            <a:ext cx="277063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1F1F"/>
                </a:solidFill>
                <a:latin typeface="Calibri"/>
              </a:rPr>
              <a:t>Exemplo: </a:t>
            </a:r>
            <a:r>
              <a:rPr sz="1500" b="0" i="0">
                <a:solidFill>
                  <a:srgbClr val="1F1F1F"/>
                </a:solidFill>
                <a:latin typeface="Calibri"/>
              </a:rPr>
              <a:t>PWRNGS1 consome gás processado (estágio 3) e gera eletricidade (estágio 2).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Calibri"/>
              </a:rPr>
              <a:t>Detecção: </a:t>
            </a:r>
            <a:r>
              <a:rPr sz="1500" b="0" i="0">
                <a:solidFill>
                  <a:srgbClr val="1F1F1F"/>
                </a:solidFill>
                <a:latin typeface="Calibri"/>
              </a:rPr>
              <a:t>comparação dos estágios de entrada e saída, sem declaração do usuário.</a:t>
            </a:r>
          </a:p>
        </p:txBody>
      </p:sp>
      <p:sp>
        <p:nvSpPr>
          <p:cNvPr id="8" name="Contraste Sankey"/>
          <p:cNvSpPr/>
          <p:nvPr/>
        </p:nvSpPr>
        <p:spPr>
          <a:xfrm>
            <a:off x="914400" y="5257800"/>
            <a:ext cx="10360152" cy="868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1F1F"/>
                </a:solidFill>
                <a:latin typeface="Calibri"/>
              </a:rPr>
              <a:t>Visuais de Sankey rejeitam esse caso como ciclo ou o desenham sobreposto. Aqui ele ganha uma rota própria.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Interatividade: um clique isola a cadeia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5394"/>
                </a:solidFill>
                <a:latin typeface="Calibri"/>
              </a:rPr>
              <a:t>1  Estado íntegro</a:t>
            </a:r>
          </a:p>
        </p:txBody>
      </p:sp>
      <p:pic>
        <p:nvPicPr>
          <p:cNvPr id="5" name="1  Estado íntegro" descr="Figura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3291840" cy="283463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14400" y="51206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Todas as cadeias em opacidade plena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8556" y="17830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5394"/>
                </a:solidFill>
                <a:latin typeface="Calibri"/>
              </a:rPr>
              <a:t>2  Clique em BIO</a:t>
            </a:r>
          </a:p>
        </p:txBody>
      </p:sp>
      <p:pic>
        <p:nvPicPr>
          <p:cNvPr id="8" name="2  Clique em BIO" descr="Figura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6" y="2194560"/>
            <a:ext cx="3291840" cy="195386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448556" y="51206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BIO e CAN têm a mesma cor: o grupo acende junto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17830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5394"/>
                </a:solidFill>
                <a:latin typeface="Calibri"/>
              </a:rPr>
              <a:t>3  Clique em COA</a:t>
            </a:r>
          </a:p>
        </p:txBody>
      </p:sp>
      <p:pic>
        <p:nvPicPr>
          <p:cNvPr id="11" name="3  Clique em COA" descr="Figura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2194560"/>
            <a:ext cx="3291840" cy="26772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982712" y="51206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Cor exclusiva: só a cadeia do carvão</a:t>
            </a:r>
          </a:p>
        </p:txBody>
      </p:sp>
      <p:sp>
        <p:nvSpPr>
          <p:cNvPr id="13" name="Opacidade"/>
          <p:cNvSpPr/>
          <p:nvPr/>
        </p:nvSpPr>
        <p:spPr>
          <a:xfrm>
            <a:off x="914400" y="5623560"/>
            <a:ext cx="10360152" cy="6858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5394"/>
                </a:solidFill>
                <a:latin typeface="Calibri"/>
              </a:rPr>
              <a:t>Destaque por opacidade, não por remoção: </a:t>
            </a:r>
            <a:r>
              <a:rPr sz="1500" b="0" i="0">
                <a:solidFill>
                  <a:srgbClr val="1F1F1F"/>
                </a:solidFill>
                <a:latin typeface="Calibri"/>
              </a:rPr>
              <a:t>o contexto continua visível. Linha de 2 px, área de clique de 45 px.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Validação em sistema nacional estilizado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RESULTADOS</a:t>
            </a:r>
          </a:p>
        </p:txBody>
      </p:sp>
      <p:pic>
        <p:nvPicPr>
          <p:cNvPr id="4" name="Panorama" descr="Figur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6684062" cy="406908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0" y="5907024"/>
            <a:ext cx="668406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Recorte do diagrama gerado automaticamente</a:t>
            </a:r>
          </a:p>
        </p:txBody>
      </p:sp>
      <p:sp>
        <p:nvSpPr>
          <p:cNvPr id="6" name="Stat combustíveis"/>
          <p:cNvSpPr/>
          <p:nvPr/>
        </p:nvSpPr>
        <p:spPr>
          <a:xfrm>
            <a:off x="7964222" y="1783080"/>
            <a:ext cx="1563724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27432" rIns="2743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5394"/>
                </a:solidFill>
                <a:latin typeface="Calibri"/>
              </a:rPr>
              <a:t>70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combustíveis</a:t>
            </a:r>
          </a:p>
        </p:txBody>
      </p:sp>
      <p:sp>
        <p:nvSpPr>
          <p:cNvPr id="7" name="Stat estágios"/>
          <p:cNvSpPr/>
          <p:nvPr/>
        </p:nvSpPr>
        <p:spPr>
          <a:xfrm>
            <a:off x="9710827" y="1783080"/>
            <a:ext cx="1563724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27432" rIns="2743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5394"/>
                </a:solidFill>
                <a:latin typeface="Calibri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estágios</a:t>
            </a:r>
          </a:p>
        </p:txBody>
      </p:sp>
      <p:sp>
        <p:nvSpPr>
          <p:cNvPr id="8" name="Stat tecnologias"/>
          <p:cNvSpPr/>
          <p:nvPr/>
        </p:nvSpPr>
        <p:spPr>
          <a:xfrm>
            <a:off x="7964222" y="2788920"/>
            <a:ext cx="1563724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27432" rIns="2743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5394"/>
                </a:solidFill>
                <a:latin typeface="Calibri"/>
              </a:rPr>
              <a:t>101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tecnologias</a:t>
            </a:r>
          </a:p>
        </p:txBody>
      </p:sp>
      <p:sp>
        <p:nvSpPr>
          <p:cNvPr id="9" name="Stat ligações declaradas"/>
          <p:cNvSpPr/>
          <p:nvPr/>
        </p:nvSpPr>
        <p:spPr>
          <a:xfrm>
            <a:off x="9710827" y="2788920"/>
            <a:ext cx="1563724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27432" rIns="2743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5394"/>
                </a:solidFill>
                <a:latin typeface="Calibri"/>
              </a:rPr>
              <a:t>106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ligações declaradas</a:t>
            </a:r>
          </a:p>
        </p:txBody>
      </p:sp>
      <p:sp>
        <p:nvSpPr>
          <p:cNvPr id="10" name="Stat fluxos reversos"/>
          <p:cNvSpPr/>
          <p:nvPr/>
        </p:nvSpPr>
        <p:spPr>
          <a:xfrm>
            <a:off x="7964222" y="3794759"/>
            <a:ext cx="1563724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27432" rIns="2743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5394"/>
                </a:solidFill>
                <a:latin typeface="Calibri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fluxos reversos</a:t>
            </a:r>
          </a:p>
        </p:txBody>
      </p:sp>
      <p:sp>
        <p:nvSpPr>
          <p:cNvPr id="11" name="Stat coordenadas à mão"/>
          <p:cNvSpPr/>
          <p:nvPr/>
        </p:nvSpPr>
        <p:spPr>
          <a:xfrm>
            <a:off x="9710827" y="3794759"/>
            <a:ext cx="1563724" cy="8686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wrap="square" lIns="27432" rIns="2743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5394"/>
                </a:solidFill>
                <a:latin typeface="Calibri"/>
              </a:rPr>
              <a:t>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coordenadas à mão</a:t>
            </a:r>
          </a:p>
        </p:txBody>
      </p:sp>
      <p:sp>
        <p:nvSpPr>
          <p:cNvPr id="12" name="Ganho"/>
          <p:cNvSpPr/>
          <p:nvPr/>
        </p:nvSpPr>
        <p:spPr>
          <a:xfrm>
            <a:off x="7964222" y="4846320"/>
            <a:ext cx="3310329" cy="1005840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FE2F3"/>
                </a:solidFill>
                <a:latin typeface="Calibri"/>
              </a:rPr>
              <a:t>Antes: </a:t>
            </a:r>
            <a:r>
              <a:rPr sz="1500" b="0" i="0">
                <a:solidFill>
                  <a:srgbClr val="CFE2F3"/>
                </a:solidFill>
                <a:latin typeface="Calibri"/>
              </a:rPr>
              <a:t>dias de desenho manual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Agora: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altera a planilha e atualiza em segundos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B5394"/>
                </a:solidFill>
              </a:rPr>
              <a:t>Conclusões e trabalhos futuros</a:t>
            </a:r>
          </a:p>
        </p:txBody>
      </p:sp>
      <p:sp>
        <p:nvSpPr>
          <p:cNvPr id="3" name="Secao"/>
          <p:cNvSpPr txBox="1"/>
          <p:nvPr/>
        </p:nvSpPr>
        <p:spPr>
          <a:xfrm>
            <a:off x="91440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95959"/>
                </a:solidFill>
                <a:latin typeface="Calibri"/>
              </a:rPr>
              <a:t>CONCLUSÕES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74519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Ferramenta entregue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Gera o RES completo e interativo a partir de duas tabelas, funcional e documentada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990088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898648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Manutenção a custo quase zero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O diagrama acompanha o modelo: altera a planilha e atualiza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4105655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14215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Contribuição técnica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Nós fantasmas: layout sem sobreposição só com transformações de tabela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5221224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129784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Método genérico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Opera sobre a forma do grafo: serve a outros fluxos, como materiais e cadeias produtivas</a:t>
            </a:r>
          </a:p>
        </p:txBody>
      </p:sp>
      <p:sp>
        <p:nvSpPr>
          <p:cNvPr id="12" name="Trabalhos futuros"/>
          <p:cNvSpPr/>
          <p:nvPr/>
        </p:nvSpPr>
        <p:spPr>
          <a:xfrm>
            <a:off x="7543800" y="1783080"/>
            <a:ext cx="3730752" cy="4343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</p:spPr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5394"/>
                </a:solidFill>
                <a:latin typeface="Calibri"/>
              </a:rPr>
              <a:t>Trabalhos futuros</a:t>
            </a:r>
          </a:p>
          <a:p>
            <a:pPr algn="l" marL="201168" indent="-20116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Parametrizar as constantes de layout na interface</a:t>
            </a:r>
          </a:p>
          <a:p>
            <a:pPr algn="l" marL="201168" indent="-20116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Reativar a rastreabilidade com cálculo otimizado</a:t>
            </a:r>
          </a:p>
          <a:p>
            <a:pPr algn="l" marL="201168" indent="-20116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Espessura das linhas proporcional ao fluxo</a:t>
            </a:r>
          </a:p>
          <a:p>
            <a:pPr algn="l" marL="201168" indent="-20116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Calibri"/>
              </a:rPr>
              <a:t>Diagnósticos automáticos de consistência do modelo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394"/>
        </a:solidFill>
      </p:bgPr>
    </p:bg>
    <p:spTree>
      <p:nvGrpSpPr>
        <p:cNvPr id="1" name=""/>
        <p:cNvGrpSpPr/>
        <p:nvPr/>
      </p:nvGrpSpPr>
      <p:grpSpPr/>
      <p:sp>
        <p:nvSpPr>
          <p:cNvPr id="84" name="Google Shape;84;h1ec743f50bf0b802_0_0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XVI Seminário de Iniciação à Inovação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1ec743f50bf0b802_0_0"/>
          <p:cNvSpPr/>
          <p:nvPr/>
        </p:nvSpPr>
        <p:spPr>
          <a:xfrm>
            <a:off x="0" y="5505876"/>
            <a:ext cx="12192000" cy="13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1ec743f50bf0b802_0_0"/>
          <p:cNvSpPr txBox="1"/>
          <p:nvPr>
            <p:ph idx="1" type="body"/>
          </p:nvPr>
        </p:nvSpPr>
        <p:spPr>
          <a:xfrm>
            <a:off x="838200" y="3888425"/>
            <a:ext cx="10515600" cy="89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Frederico José Poli Antunes</a:t>
            </a:r>
            <a:endParaRPr sz="24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Apoio: CNPq · PIBITI/PIBINOVA UFF 2025-2026</a:t>
            </a:r>
            <a:endParaRPr sz="2400"/>
          </a:p>
        </p:txBody>
      </p:sp>
      <p:sp>
        <p:nvSpPr>
          <p:cNvPr id="87" name="Google Shape;87;h1ec743f50bf0b802_0_0"/>
          <p:cNvSpPr txBox="1"/>
          <p:nvPr>
            <p:ph idx="4294967295" type="ctrTitle"/>
          </p:nvPr>
        </p:nvSpPr>
        <p:spPr>
          <a:xfrm>
            <a:off x="1885950" y="1601287"/>
            <a:ext cx="84201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pt-BR" sz="5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sz="6000"/>
          </a:p>
        </p:txBody>
      </p:sp>
      <p:pic>
        <p:nvPicPr>
          <p:cNvPr id="88" name="Google Shape;88;h1ec743f50bf0b802_0_0" title="logouff_vertical_azul-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0675" y="5571363"/>
            <a:ext cx="1192300" cy="122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h1ec743f50bf0b80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1930" y="5658380"/>
            <a:ext cx="2628129" cy="104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h1ec743f50bf0b80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9000" y="5653612"/>
            <a:ext cx="2460443" cy="1056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2024-09-11T20:15:35Z</dcterms:created>
  <dc:creator>Carlos Frederico Queiroz de Andrade</dc:creator>
</cp:coreProperties>
</file>